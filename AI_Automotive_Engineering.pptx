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600" kern="0" dirty="0">
                <a:solidFill>
                  <a:srgbClr val="ED89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AUTOMOTIVE ENGINEERING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Copilot &amp;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AI-Assisted Engineering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29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AI Fundamentals to Copilot Mastery for Every Automotive Discipline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3566160"/>
            <a:ext cx="502920" cy="502920"/>
          </a:xfrm>
          <a:prstGeom prst="ellipse">
            <a:avLst/>
          </a:prstGeom>
          <a:solidFill>
            <a:srgbClr val="2B6CB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3676802"/>
            <a:ext cx="281635" cy="2816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41148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1828800" y="3566160"/>
            <a:ext cx="502920" cy="502920"/>
          </a:xfrm>
          <a:prstGeom prst="ellipse">
            <a:avLst/>
          </a:prstGeom>
          <a:solidFill>
            <a:srgbClr val="2B6CB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9442" y="3676802"/>
            <a:ext cx="281635" cy="2816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91640" y="41148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2926080" y="3566160"/>
            <a:ext cx="502920" cy="502920"/>
          </a:xfrm>
          <a:prstGeom prst="ellipse">
            <a:avLst/>
          </a:prstGeom>
          <a:solidFill>
            <a:srgbClr val="2B6CB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6722" y="3676802"/>
            <a:ext cx="281635" cy="28163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788920" y="41148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4023360" y="3566160"/>
            <a:ext cx="502920" cy="502920"/>
          </a:xfrm>
          <a:prstGeom prst="ellipse">
            <a:avLst/>
          </a:prstGeom>
          <a:solidFill>
            <a:srgbClr val="2B6CB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4002" y="3676802"/>
            <a:ext cx="281635" cy="28163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886200" y="41148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5120640" y="3566160"/>
            <a:ext cx="502920" cy="502920"/>
          </a:xfrm>
          <a:prstGeom prst="ellipse">
            <a:avLst/>
          </a:prstGeom>
          <a:solidFill>
            <a:srgbClr val="2B6CB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1282" y="3676802"/>
            <a:ext cx="281635" cy="28163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983480" y="41148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Homologation</a:t>
            </a:r>
            <a:endParaRPr lang="en-US" sz="900" dirty="0"/>
          </a:p>
        </p:txBody>
      </p:sp>
      <p:sp>
        <p:nvSpPr>
          <p:cNvPr id="22" name="Shape 14"/>
          <p:cNvSpPr/>
          <p:nvPr/>
        </p:nvSpPr>
        <p:spPr>
          <a:xfrm>
            <a:off x="6217920" y="3566160"/>
            <a:ext cx="502920" cy="502920"/>
          </a:xfrm>
          <a:prstGeom prst="ellipse">
            <a:avLst/>
          </a:prstGeom>
          <a:solidFill>
            <a:srgbClr val="2B6CB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8562" y="3676802"/>
            <a:ext cx="281635" cy="28163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080760" y="41148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900" dirty="0"/>
          </a:p>
        </p:txBody>
      </p:sp>
      <p:sp>
        <p:nvSpPr>
          <p:cNvPr id="25" name="Text 16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Science  •  AI Secrets  •  Copilot Deep Dive  •  Engineering Applications  •  Cheat Sheets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D89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STORY  •  CHAPTER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Origins of Artificial Intelligence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1956, McCarthy, Minsky, Shannon, and Rochester convened at Dartmouth College: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machines simulate every aspect of learning and intelligence?"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called it "Artificial Intelligence" — and hypothesized machine intelligence could be achieved within two decades.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3200400"/>
            <a:ext cx="822960" cy="822960"/>
          </a:xfrm>
          <a:prstGeom prst="ellipse">
            <a:avLst/>
          </a:prstGeom>
          <a:solidFill>
            <a:srgbClr val="38A16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331012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1956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born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65960" y="3611880"/>
            <a:ext cx="1005840" cy="0"/>
          </a:xfrm>
          <a:prstGeom prst="line">
            <a:avLst/>
          </a:prstGeom>
          <a:noFill/>
          <a:ln w="19050">
            <a:solidFill>
              <a:srgbClr val="71809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017520" y="3200400"/>
            <a:ext cx="822960" cy="822960"/>
          </a:xfrm>
          <a:prstGeom prst="ellipse">
            <a:avLst/>
          </a:prstGeom>
          <a:solidFill>
            <a:srgbClr val="ECC94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17520" y="331012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1976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4160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waiting...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86200" y="3611880"/>
            <a:ext cx="1005840" cy="0"/>
          </a:xfrm>
          <a:prstGeom prst="line">
            <a:avLst/>
          </a:prstGeom>
          <a:noFill/>
          <a:ln w="19050">
            <a:solidFill>
              <a:srgbClr val="71809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937760" y="3200400"/>
            <a:ext cx="822960" cy="822960"/>
          </a:xfrm>
          <a:prstGeom prst="ellipse">
            <a:avLst/>
          </a:prstGeom>
          <a:solidFill>
            <a:srgbClr val="DD6B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331012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4160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here!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2743200" cy="2743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reality: practical general-purpose AI took ~67 years of iterative research across symbolic AI, connectionism, and deep learning.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D6B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"Generative AI" Anyway?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54864"/>
          </a:xfrm>
          <a:prstGeom prst="rect">
            <a:avLst/>
          </a:prstGeom>
          <a:solidFill>
            <a:srgbClr val="2B6CB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572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AI (Analytical)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10312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regression, anomaly detection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this part defective?" → Yes/No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Examples: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CAE: FEA mesh convergence checks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Crash: Injury severity prediction from sensor data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Design: Surface defect detection in paint inspection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Homologation: Emissions pass/fail classification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Software: DTC fault pattern recognition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371600"/>
            <a:ext cx="3931920" cy="54864"/>
          </a:xfrm>
          <a:prstGeom prst="rect">
            <a:avLst/>
          </a:prstGeom>
          <a:solidFill>
            <a:srgbClr val="DD6B2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572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AI (Creative)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029200" y="210312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synthesis, sequence generation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test report for..." → Full document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Examples: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CAE: Generate boundary conditions from specs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Crash: Draft NCAP test protocols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Design: Concept sketch descriptions &amp; specs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Homologation: Regulation compliance reports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Software: Code generation, documentation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Generative AI doesn't just analyze — it creates new content based on patterns learned from trillions of tokens.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D89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Large Language Models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06040" cy="2011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0604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massive corpora: Common Crawl, GitHub, arXiv, Wikipedia. Scale: 1-13 trillion tokens.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194560"/>
            <a:ext cx="228600" cy="228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291840" y="1463040"/>
            <a:ext cx="2606040" cy="2011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463040"/>
            <a:ext cx="2606040" cy="54864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3" name="Text 10"/>
          <p:cNvSpPr/>
          <p:nvPr/>
        </p:nvSpPr>
        <p:spPr>
          <a:xfrm>
            <a:off x="347472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9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474720" y="1874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474720" y="22860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patterns: "After 'test report', people often write 'scope' or 'objective'..."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194560"/>
            <a:ext cx="228600" cy="2286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126480" y="1463040"/>
            <a:ext cx="2606040" cy="2011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463040"/>
            <a:ext cx="2606040" cy="54864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9" name="Text 15"/>
          <p:cNvSpPr/>
          <p:nvPr/>
        </p:nvSpPr>
        <p:spPr>
          <a:xfrm>
            <a:off x="630936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309360" y="1874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Generating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309360" y="22860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tokens by sampling from probability distributions via temperature-scaled softmax.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3192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9728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89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Automotive Analogy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097280" y="42519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training a junior engineer: they learn from millions of examples — design docs, simulation results, test reports. Eventually they develop intuition about what works. AI does this at unprecedented scale — but it's pattern matching, not true reasoning.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D6B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SETTING EXPECTATIONS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AI CAN and CAN'T 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54864"/>
          </a:xfrm>
          <a:prstGeom prst="rect">
            <a:avLst/>
          </a:prstGeom>
          <a:solidFill>
            <a:srgbClr val="E53E3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CANNOT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011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 your expertise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240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proprietary CAD models, FEA setups, calibration data, or test results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0080" y="2697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Guarantee correctness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2926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produce confident but incorrect outputs — all outputs need expert verification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40080" y="3383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private data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3611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local files, PLM systems, or test databases without explicit integration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40080" y="4069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 responsibility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4297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accountability remains with the engineer — AI is a tool, not an authority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1371600"/>
            <a:ext cx="3931920" cy="54864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5448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0352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CAN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937760" y="2011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Accelerate your work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937760" y="2240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faster, iterate quicker, generate options across all engineering domains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937760" y="2697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 tedious tasks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937760" y="2926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boilerplate code, formatting, report generation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937760" y="3383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complex concepts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937760" y="3611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interpretation, error diagnosis, technical explanations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4937760" y="4069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 your thinking partner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937760" y="4297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Brainstorm, debug, review designs, suggest alternatives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Model: AI = high-throughput technical assistant with broad but shallow domain knowledge — requiring verification for all safety-relevant outputs.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D89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SECRETS  •  WHAT THEY DON'T TELL YOU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AI "Hallucinates"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754880" cy="2926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Uncomfortable Truth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lack epistemic self-awareness — the training objective (next-token prediction) optimizes for fluency, not accuracy. The model has no mechanism to say "I don't know."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Hallucinations Happen: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Model samples from learned probability distribution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Each token conditions subsequent predictions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Error propagation increases with sequence length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 reinforces incorrect premises for coherence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0" y="1371600"/>
            <a:ext cx="3200400" cy="2926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0" y="1508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89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Discipline-Specific Risks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192024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CAE: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Fabricates material properties or solver settings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Crash: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Invents regulation clause numbers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plausible but wrong DIN/ISO specs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Homologation: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non-existent ECE regulations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CAN baud rates or pin assignments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API signatures, fabricated docs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Hallucination risk scales with specificity. Parameter values, standard clause numbers, and API signatures require MANDATORY verification.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D6B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TOOLS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 the AI Family: Who's Who?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965960" cy="54864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54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ChatGPT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• GPT-4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at multi-turn reasoning, code generation, and creative tasks.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06040" y="137160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371600"/>
            <a:ext cx="196596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554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200" y="18745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• GPT-4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0" y="22402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integrated into M365, VS Code, Edge. Enterprise data grounding.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371600"/>
            <a:ext cx="1965960" cy="54864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554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18745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2402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token context. Strong at technical analysis and structured output.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03720" y="137160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1371600"/>
            <a:ext cx="1965960" cy="5486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1554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18745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40880" y="22402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Multimodal, 1M+ token context. Google Workspace integration.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1A365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0"/>
            <a:ext cx="320040" cy="3200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05156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89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Truth: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51560" y="4343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built on Transformer architectures with RLHF. For most tasks, any works. Pick based on: what your company approves, integration with your tools, and personal preference. Today's techniques work with ANY of these!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ED89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Copilot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29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AI-Powered Engineering Assistant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2743200"/>
            <a:ext cx="1188720" cy="731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880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57400" y="2743200"/>
            <a:ext cx="1188720" cy="731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057400" y="2880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83280" y="2743200"/>
            <a:ext cx="1188720" cy="731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383280" y="2880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PowerPoint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09160" y="2743200"/>
            <a:ext cx="1188720" cy="731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09160" y="2880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35040" y="2743200"/>
            <a:ext cx="1188720" cy="731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35040" y="2880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Outlook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360920" y="2743200"/>
            <a:ext cx="1188720" cy="731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360920" y="2880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meetings to documentation — Copilot transforms how automotive engineers work daily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STRENGTHS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Copilot Genuinely Excels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6012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Data Access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2057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AI tool can search YOUR emails, files, meetings, and chats simultaneously.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5544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4760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79476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Meeting Intelligence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429000" y="2057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summaries, action items, and catch-up. Saves 2+ hours/week.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26480" y="13716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544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29400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#3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62940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Zero-Context-Switch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63640" y="2057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right inside Word, Excel, PPT, Outlook. No copy-pasting.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30632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2461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0120" y="3200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#4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960120" y="3383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Security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94360" y="3749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doesn't train the model. Everything stays in your tenant.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91840" y="30632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24612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94760" y="3200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#5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3794760" y="3383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First-Draft Speed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429000" y="3749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presentations, emails — ~70% of final quality in minutes.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126480" y="30632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24612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29400" y="3200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#6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6629400" y="3383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Cross-App Search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263640" y="3749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any meeting, email, or file across the entire M365 ecosystem.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D89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FOR EVERY DISCIPLINE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AI Helps Across Automotive Engineering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97480" cy="15544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54864" cy="155448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508760"/>
            <a:ext cx="411480" cy="411480"/>
          </a:xfrm>
          <a:prstGeom prst="ellipse">
            <a:avLst/>
          </a:prstGeom>
          <a:solidFill>
            <a:srgbClr val="2B6CB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6" y="1599286"/>
            <a:ext cx="230429" cy="2304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CAE / Simulation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9659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 mesh troubleshooting, CFD boundary condition setup, material model selection, solver convergence analysis, result interpretation reports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46120" y="1371600"/>
            <a:ext cx="2697480" cy="15544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371600"/>
            <a:ext cx="54864" cy="155448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3" name="Shape 10"/>
          <p:cNvSpPr/>
          <p:nvPr/>
        </p:nvSpPr>
        <p:spPr>
          <a:xfrm>
            <a:off x="3429000" y="1508760"/>
            <a:ext cx="411480" cy="411480"/>
          </a:xfrm>
          <a:prstGeom prst="ellipse">
            <a:avLst/>
          </a:prstGeom>
          <a:solidFill>
            <a:srgbClr val="2B6CB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526" y="1599286"/>
            <a:ext cx="230429" cy="23042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 Design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29000" y="19659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study documentation, design review checklists, GD&amp;T interpretation, surface quality specs, BOM generation from descriptions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126480" y="1371600"/>
            <a:ext cx="2697480" cy="15544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371600"/>
            <a:ext cx="54864" cy="155448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9" name="Shape 15"/>
          <p:cNvSpPr/>
          <p:nvPr/>
        </p:nvSpPr>
        <p:spPr>
          <a:xfrm>
            <a:off x="6309360" y="1508760"/>
            <a:ext cx="411480" cy="411480"/>
          </a:xfrm>
          <a:prstGeom prst="ellipse">
            <a:avLst/>
          </a:prstGeom>
          <a:solidFill>
            <a:srgbClr val="2B6CB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9886" y="1599286"/>
            <a:ext cx="230429" cy="23042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1228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Crash Testing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309360" y="19659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NCAP protocol summaries, barrier spec lookups, injury criteria calculations, test matrix generation, post-test report drafting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65760" y="3154680"/>
            <a:ext cx="2697480" cy="15544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65760" y="3154680"/>
            <a:ext cx="54864" cy="155448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25" name="Shape 20"/>
          <p:cNvSpPr/>
          <p:nvPr/>
        </p:nvSpPr>
        <p:spPr>
          <a:xfrm>
            <a:off x="548640" y="3291840"/>
            <a:ext cx="411480" cy="411480"/>
          </a:xfrm>
          <a:prstGeom prst="ellipse">
            <a:avLst/>
          </a:prstGeom>
          <a:solidFill>
            <a:srgbClr val="2B6CB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6" y="3382366"/>
            <a:ext cx="230429" cy="230429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5156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 Integration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48640" y="37490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control documents, CAN/LIN protocol debugging, wiring harness specs, ECU integration test plans, DTC analysis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246120" y="3154680"/>
            <a:ext cx="2697480" cy="15544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46120" y="3154680"/>
            <a:ext cx="54864" cy="155448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1" name="Shape 25"/>
          <p:cNvSpPr/>
          <p:nvPr/>
        </p:nvSpPr>
        <p:spPr>
          <a:xfrm>
            <a:off x="3429000" y="3291840"/>
            <a:ext cx="411480" cy="411480"/>
          </a:xfrm>
          <a:prstGeom prst="ellipse">
            <a:avLst/>
          </a:prstGeom>
          <a:solidFill>
            <a:srgbClr val="2B6CB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9526" y="3382366"/>
            <a:ext cx="230429" cy="230429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93192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Homologation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3429000" y="37490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ECE/FMVSS regulation interpretation, type approval checklists, compliance gap analysis, certification document drafting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6126480" y="3154680"/>
            <a:ext cx="2697480" cy="15544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126480" y="3154680"/>
            <a:ext cx="54864" cy="155448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7" name="Shape 30"/>
          <p:cNvSpPr/>
          <p:nvPr/>
        </p:nvSpPr>
        <p:spPr>
          <a:xfrm>
            <a:off x="6309360" y="3291840"/>
            <a:ext cx="411480" cy="411480"/>
          </a:xfrm>
          <a:prstGeom prst="ellipse">
            <a:avLst/>
          </a:prstGeom>
          <a:solidFill>
            <a:srgbClr val="2B6CB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9886" y="3382366"/>
            <a:ext cx="230429" cy="230429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8122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Engineering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6309360" y="37490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AUTOSAR patterns, MISRA compliance, test case generation, code review, Simulink debugging, ASPICE documentation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D6B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PROMPTING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 + Context + Source + Format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96596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08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want?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"Summarize", "Draft", "Analyze"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371600"/>
            <a:ext cx="1965960" cy="54864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508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0" y="19202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and for whom?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 management", "for the supplier"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371600"/>
            <a:ext cx="1965960" cy="54864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508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D6B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92040" y="19202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to use?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"/file.docx", "this email", "meeting"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03720" y="137160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371600"/>
            <a:ext cx="1965960" cy="5486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1508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40880" y="19202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it look?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 a table", "max 5 bullets"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3931920" cy="14630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383280"/>
            <a:ext cx="228600" cy="2286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68680" y="3401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 Prompt: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94360" y="3749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"Tell me about the crash test results"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54880" y="3291840"/>
            <a:ext cx="3931920" cy="146304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383280"/>
            <a:ext cx="228600" cy="2286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166360" y="3401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Great Prompt: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892040" y="3703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"Summarize [GOAL] the frontal crash test results for the NCAP team review [CONTEXT] from /CrashResults_Q3.xlsx [SOURCE]. Format as a table with pass/fail per load case [FORMAT]."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D89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READY-TO-USE PROMPTS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Prompt Templates by Discipline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60520" cy="10972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10972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CAE Engineer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running a nonlinear FEA of a B-pillar intrusion. The solver diverges at 15ms. Contact type: penalty-based. Material: DP780. What convergence strategies should I try? Rank by computational cost."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60520" cy="10972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109728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 Designer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design review checklist for an instrument panel package study. Cover: safety (airbag clearance), ergonomics (reach zones), manufacturing (draft angles), and regulatory (ECE R21)."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4160520" cy="10972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423160"/>
            <a:ext cx="54864" cy="10972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468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Crash Test Engineer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7432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 a test matrix for Euro NCAP 2026 frontal offset barrier test. Include: barrier type, speed, overlap %, dummy types, instrumentation channels, injury criteria thresholds."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423160"/>
            <a:ext cx="4160520" cy="10972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423160"/>
            <a:ext cx="54864" cy="109728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468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 Integration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7432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"Debug this CAN timeout on message 0x1A3 between BCM and gateway. Bus load: 45%. Occurs above 80°C. List root causes ranked by probability and suggest a diagnostic test plan."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4160520" cy="10972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749040"/>
            <a:ext cx="54864" cy="109728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794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99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Homologation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0690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"Compare ECE R100 rev.3 vs FMVSS 305 for EV battery safety. Create a compliance matrix showing: test type, acceptance criteria, key differences, and gap analysis."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3749040"/>
            <a:ext cx="4160520" cy="10972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749040"/>
            <a:ext cx="54864" cy="1097280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794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C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Engineer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40690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 MIL test cases for a torque limiter. Inputs: driver_request (0-500Nm), speed (0-250km/h), battery_soc (0-100%). Cover boundary, equivalence, and failure modes."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FIRST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with AI Without Compromising IP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029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029200" cy="54864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536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 TECHNIQUES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Describe, Don't Upload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architectural patterns and symptoms — never the proprietary implementation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0080" y="2468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Sanitize Examples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vehicle program codes, supplier names, part numbers, internal project IDs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40080" y="3017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Generic Error Messages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error messages without model topology or signal naming context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40080" y="3566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Template Requests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generic templates; populate with proprietary data offline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40080" y="4114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Public Knowledge Only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only public standards (ISO, SAE, ECE, FMVSS) — never internal specs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760720" y="1371600"/>
            <a:ext cx="2926080" cy="34747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760720" y="1371600"/>
            <a:ext cx="2926080" cy="54864"/>
          </a:xfrm>
          <a:prstGeom prst="rect">
            <a:avLst/>
          </a:prstGeom>
          <a:solidFill>
            <a:srgbClr val="E53E3E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50876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309360" y="1536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NEVER UPLOAD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943600" y="196596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CAD/CAE models (.catia, .nx, .nas)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test raw data or videos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calibration data (.a2l, .hex)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database files (.dbc, .arxml)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contracts or pricing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Homologation certificates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program timelines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requirements specs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Alliance/partner confidential data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D89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IN 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Across Office Apps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97480" cy="1600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9748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Draft from scratch or from reference files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984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Rewrite technical descriptions for different audiences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276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Generate ASPICE/ISO-compliant documentation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97480" cy="1600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88720"/>
            <a:ext cx="2697480" cy="54864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Natural language formula generation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83280" y="1984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 analysis without complex formulas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83280" y="2276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Chart creation from descriptions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1188720"/>
            <a:ext cx="2697480" cy="1600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188720"/>
            <a:ext cx="2697480" cy="54864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PowerPoint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Create decks from Word documents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63640" y="1984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Add/organize slides with AI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63640" y="2276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Generate speaker notes automatically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2697480" cy="1600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017520"/>
            <a:ext cx="2697480" cy="5486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292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Meeting recaps and action items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" y="3813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Chat catch-up summaries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41056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Real-time during-meeting queries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46120" y="3017520"/>
            <a:ext cx="2697480" cy="1600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3017520"/>
            <a:ext cx="2697480" cy="54864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31" name="Text 29"/>
          <p:cNvSpPr/>
          <p:nvPr/>
        </p:nvSpPr>
        <p:spPr>
          <a:xfrm>
            <a:off x="338328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Outlook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38328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Draft and rewrite emails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83280" y="3813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Summarize long email threads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83280" y="41056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Tone coaching (formal, casual)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26480" y="3017520"/>
            <a:ext cx="2697480" cy="1600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3017520"/>
            <a:ext cx="2697480" cy="54864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37" name="Text 35"/>
          <p:cNvSpPr/>
          <p:nvPr/>
        </p:nvSpPr>
        <p:spPr>
          <a:xfrm>
            <a:off x="626364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26364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Summarize any webpage or PDF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63640" y="3813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Compare tabs side by side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63640" y="41056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Compose text while browsing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D6B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vs After Copilot: Time Savings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92608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1828800"/>
                <a:gridCol w="1188720"/>
              </a:tblGrid>
              <a:tr h="418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Copilot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Copilot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minutes (1hr meeting)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30-45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 (review)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catch-up (morning)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20-30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First-draft technical report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hours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 + editing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formula creation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15-30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PowerPoint from document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hours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 + polish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email drafting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15-20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 +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434840"/>
            <a:ext cx="2743200" cy="548640"/>
          </a:xfrm>
          <a:prstGeom prst="rect">
            <a:avLst/>
          </a:prstGeom>
          <a:solidFill>
            <a:srgbClr val="1A365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445312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10+ hrs/month saved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74720" y="4434840"/>
            <a:ext cx="2743200" cy="548640"/>
          </a:xfrm>
          <a:prstGeom prst="rect">
            <a:avLst/>
          </a:prstGeom>
          <a:solidFill>
            <a:srgbClr val="DD6B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74720" y="445312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 report increased productivity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D89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CRISP Framework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1691640" cy="2743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685800" cy="6858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2194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56032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tools, platform, domain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CATIA V5, ANSA pre-processing, Euro NCAP protocol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11680" y="1188720"/>
            <a:ext cx="1691640" cy="2743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371600"/>
            <a:ext cx="685800" cy="68580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4173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103120" y="2194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256032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persona to adopt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Senior crash engineer, ASPICE assessor, CAE lead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94760" y="1188720"/>
            <a:ext cx="1691640" cy="2743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371600"/>
            <a:ext cx="685800" cy="685800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14173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886200" y="2194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86200" y="256032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 accomplished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Debug solver convergence, draft compliance matrix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77840" y="1188720"/>
            <a:ext cx="1691640" cy="2743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371600"/>
            <a:ext cx="685800" cy="68580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14173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669280" y="2194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0" y="256032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and constraints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Front structure only, exclude NVH, ASIL-B scope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60920" y="1188720"/>
            <a:ext cx="1691640" cy="2743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63840" y="1371600"/>
            <a:ext cx="685800" cy="685800"/>
          </a:xfrm>
          <a:prstGeom prst="ellipse">
            <a:avLst/>
          </a:prstGeom>
          <a:solidFill>
            <a:srgbClr val="ECC94B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0" y="14173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452360" y="2194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Preference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52360" y="256032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 and style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Table format, max 200 words, step-by-step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297680"/>
            <a:ext cx="274320" cy="27432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00584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89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Golden Rule: 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005840" y="44988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of prompt engineering eliminates 3-6 iteration cycles. Approach LLM prompting as context specification for a system with broad knowledge but zero project-specific context.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D6B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CHEAT SHEET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Phrases That Improve AI Output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146304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Better Reasoning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"Think step by step"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"Walk me through your reasoning"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"Before answering, consider..."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71600"/>
            <a:ext cx="54864" cy="14630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Better Format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1783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"Format as a table with columns: ..."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0" y="2057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 concise, max 3 sentences"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4720" y="2331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this exact template: ..."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371600"/>
            <a:ext cx="54864" cy="146304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Better Quality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1783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as a senior [role]"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09360" y="2057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are you uncertain about?"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09360" y="2331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"Rate your confidence 1-10"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063240"/>
            <a:ext cx="54864" cy="14630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Catching Errors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3474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"Review your answer for errors"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0080" y="3749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could go wrong with this?"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4023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"Play devil's advocate"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91840" y="30632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0" y="3063240"/>
            <a:ext cx="54864" cy="146304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74720" y="3474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"Good, now make it more [specific]"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74720" y="3749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structure but change [X]"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474720" y="4023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"Combine best parts of both"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26480" y="30632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3063240"/>
            <a:ext cx="54864" cy="1463040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Safety-Critical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09360" y="3474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"Flag any safety implications"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09360" y="3749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assumptions are you making?"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09360" y="4023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should I verify independently?"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A365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636008"/>
            <a:ext cx="228600" cy="22860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960120" y="46177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 Power Move: "Before starting, tell me what additional information you need to give the best answer."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D89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 SAFETY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and ISO 26262: What You Need to Know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2926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5486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CANNOT REPLACE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analysis (HARA, FMEA/FTA)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 classification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goal sign-off by FSM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confirmation review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classification &amp; tool qualification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2926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3931920" cy="54864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CAN ASSIST WITH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92024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safety case structure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templates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generation from requirements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ISO 26262 concepts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checklists for verification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45537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AI accelerates documentation throughput. The engineer retains full accountability per ISO 26262 Part 2.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D89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CHAPTER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Automotive Engineer's AI Journey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31520" y="1554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not just using AI. You're writing the next chapter of this story.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engineers who learn to work WITH AI today will define how automotive development works tomorrow.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560320"/>
            <a:ext cx="2286000" cy="1645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2560320"/>
            <a:ext cx="228600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Domain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CAE, Design, Crash,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Homologation, SW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926080" y="27432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3474720" y="2560320"/>
            <a:ext cx="2286000" cy="1645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74720" y="2560320"/>
            <a:ext cx="2286000" cy="54864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4" name="Text 11"/>
          <p:cNvSpPr/>
          <p:nvPr/>
        </p:nvSpPr>
        <p:spPr>
          <a:xfrm>
            <a:off x="3611880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as Your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Co-Pilot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61188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consistency,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43600" y="27432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2800" dirty="0"/>
          </a:p>
        </p:txBody>
      </p:sp>
      <p:sp>
        <p:nvSpPr>
          <p:cNvPr id="17" name="Shape 14"/>
          <p:cNvSpPr/>
          <p:nvPr/>
        </p:nvSpPr>
        <p:spPr>
          <a:xfrm>
            <a:off x="6492240" y="2560320"/>
            <a:ext cx="2286000" cy="1645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92240" y="2560320"/>
            <a:ext cx="2286000" cy="54864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9" name="Text 16"/>
          <p:cNvSpPr/>
          <p:nvPr/>
        </p:nvSpPr>
        <p:spPr>
          <a:xfrm>
            <a:off x="6629400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Superpower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62940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work,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3152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future belongs to those who learn to collaborate with AI, not compete against it."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D6B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Plan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08760"/>
            <a:ext cx="640080" cy="64008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1737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ONE technique: Use AI to draft a test report, debug an error, or generate a compliance checklist — pick what's most relevant to your discipline.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651760"/>
            <a:ext cx="640080" cy="640080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6304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6B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WEEK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2880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ONE reusable CRISP-formatted prompt template for your primary workflow — whether it's CAE setup, crash protocol, design review, or integration test planning.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794760"/>
            <a:ext cx="640080" cy="64008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6304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MONTH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4023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time savings quantitatively (before/after) and share one AI-assisted workflow improvement with your team to accelerate collective adoption.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1A365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44622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best tool is the one you actually use. Start small. Stay curious."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2011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29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discuss!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31520" y="2926080"/>
            <a:ext cx="2377440" cy="13716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508760" y="3063240"/>
            <a:ext cx="457200" cy="457200"/>
          </a:xfrm>
          <a:prstGeom prst="ellipse">
            <a:avLst/>
          </a:prstGeom>
          <a:solidFill>
            <a:srgbClr val="2B6CB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" y="316382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Small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68680" y="39136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one AI technique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337560" y="2926080"/>
            <a:ext cx="2377440" cy="13716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114800" y="3063240"/>
            <a:ext cx="457200" cy="457200"/>
          </a:xfrm>
          <a:prstGeom prst="ellipse">
            <a:avLst/>
          </a:prstGeom>
          <a:solidFill>
            <a:srgbClr val="2B6CB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316382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7472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Stay Compliant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474720" y="39136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IP protection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company policy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943600" y="2926080"/>
            <a:ext cx="2377440" cy="13716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720840" y="3063240"/>
            <a:ext cx="457200" cy="457200"/>
          </a:xfrm>
          <a:prstGeom prst="ellipse">
            <a:avLst/>
          </a:prstGeom>
          <a:solidFill>
            <a:srgbClr val="2B6CB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424" y="3163824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08076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Success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080760" y="39136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validated workflows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team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Slides, prompt templates, and technical resources available on request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Automotive Engineering</dc:title>
  <dc:subject>PptxGenJS Presentation</dc:subject>
  <dc:creator>AI Engineering Training</dc:creator>
  <cp:lastModifiedBy>AI Engineering Training</cp:lastModifiedBy>
  <cp:revision>1</cp:revision>
  <dcterms:created xsi:type="dcterms:W3CDTF">2026-02-06T03:16:09Z</dcterms:created>
  <dcterms:modified xsi:type="dcterms:W3CDTF">2026-02-06T03:16:09Z</dcterms:modified>
</cp:coreProperties>
</file>