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session agenda covering all 3 PPTs: AI Fundamentals, Copilot Deep Dive, All Teams, and Agents/Takeaway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Agents: what they are, roles at risk, and 5 strategies to stay ahead. Key message: automate the boring, elevate your work, master AI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AI CLUB • SESSION #2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&amp; AI-Assisted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228600"/>
            <a:ext cx="2103120" cy="777240"/>
          </a:xfrm>
          <a:prstGeom prst="rect">
            <a:avLst>
              <a:gd name="adj" fmla="val 7059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5603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Feb 2026 • 11 AM – 1 PM
</a:t>
            </a:r>
            <a:pPr algn="ct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• AI Club Session #2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31920" cy="1463040"/>
          </a:xfrm>
          <a:prstGeom prst="rect">
            <a:avLst>
              <a:gd name="adj" fmla="val 5000"/>
            </a:avLst>
          </a:prstGeom>
          <a:solidFill>
            <a:srgbClr val="FEF2F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384048" cy="38404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258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11880" y="12435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40080" y="1623060"/>
            <a:ext cx="64008" cy="640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" y="15819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 of AI — 1956 to ChatGPT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40080" y="1792224"/>
            <a:ext cx="64008" cy="640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2"/>
          <p:cNvSpPr/>
          <p:nvPr/>
        </p:nvSpPr>
        <p:spPr>
          <a:xfrm>
            <a:off x="804672" y="17510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Transformer revolution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" y="1961388"/>
            <a:ext cx="64008" cy="640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4"/>
          <p:cNvSpPr/>
          <p:nvPr/>
        </p:nvSpPr>
        <p:spPr>
          <a:xfrm>
            <a:off x="804672" y="192024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actually work (tokens, attention, hallucinations)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0080" y="2130552"/>
            <a:ext cx="64008" cy="640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6"/>
          <p:cNvSpPr/>
          <p:nvPr/>
        </p:nvSpPr>
        <p:spPr>
          <a:xfrm>
            <a:off x="804672" y="20894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strengths, limits &amp; the "lost in the middle" problem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40080" y="2299716"/>
            <a:ext cx="64008" cy="640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18"/>
          <p:cNvSpPr/>
          <p:nvPr/>
        </p:nvSpPr>
        <p:spPr>
          <a:xfrm>
            <a:off x="804672" y="225856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context windows &amp; why AI can't do math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54880" y="1170432"/>
            <a:ext cx="3931920" cy="1463040"/>
          </a:xfrm>
          <a:prstGeom prst="rect">
            <a:avLst>
              <a:gd name="adj" fmla="val 5000"/>
            </a:avLst>
          </a:prstGeom>
          <a:solidFill>
            <a:srgbClr val="EBF5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280160"/>
            <a:ext cx="384048" cy="384048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32588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Deep Dive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909560" y="12435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937760" y="1623060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9" name="Text 23"/>
          <p:cNvSpPr/>
          <p:nvPr/>
        </p:nvSpPr>
        <p:spPr>
          <a:xfrm>
            <a:off x="5102352" y="15819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architecture — GPT-4 + Microsoft Graph + your data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937760" y="1792224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1" name="Text 25"/>
          <p:cNvSpPr/>
          <p:nvPr/>
        </p:nvSpPr>
        <p:spPr>
          <a:xfrm>
            <a:off x="5102352" y="17510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PowerPoint, Teams, Outlook — real demos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937760" y="1961388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27"/>
          <p:cNvSpPr/>
          <p:nvPr/>
        </p:nvSpPr>
        <p:spPr>
          <a:xfrm>
            <a:off x="5102352" y="192024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with CRISP framework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937760" y="2130552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29"/>
          <p:cNvSpPr/>
          <p:nvPr/>
        </p:nvSpPr>
        <p:spPr>
          <a:xfrm>
            <a:off x="5102352" y="20894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"/ references", chaining prompts, Copilot Pages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937760" y="2299716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7" name="Text 31"/>
          <p:cNvSpPr/>
          <p:nvPr/>
        </p:nvSpPr>
        <p:spPr>
          <a:xfrm>
            <a:off x="5102352" y="225856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safety — what to share vs. what NEVER to upload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57200" y="2798064"/>
            <a:ext cx="3931920" cy="1463040"/>
          </a:xfrm>
          <a:prstGeom prst="rect">
            <a:avLst>
              <a:gd name="adj" fmla="val 5000"/>
            </a:avLst>
          </a:prstGeom>
          <a:solidFill>
            <a:srgbClr val="F5F3FF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907792"/>
            <a:ext cx="384048" cy="384048"/>
          </a:xfrm>
          <a:prstGeom prst="rect">
            <a:avLst/>
          </a:prstGeom>
        </p:spPr>
      </p:pic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2953512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51560" y="2871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All Engineering Teams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3611880" y="28712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640080" y="3250692"/>
            <a:ext cx="64008" cy="640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4" name="Text 36"/>
          <p:cNvSpPr/>
          <p:nvPr/>
        </p:nvSpPr>
        <p:spPr>
          <a:xfrm>
            <a:off x="804672" y="32095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— solver debugging, meshing scripts, correlation reports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640080" y="3419856"/>
            <a:ext cx="64008" cy="640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6" name="Text 38"/>
          <p:cNvSpPr/>
          <p:nvPr/>
        </p:nvSpPr>
        <p:spPr>
          <a:xfrm>
            <a:off x="804672" y="337870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DFMEA, GD&amp;T, BOM change management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640080" y="3589020"/>
            <a:ext cx="64008" cy="640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8" name="Text 40"/>
          <p:cNvSpPr/>
          <p:nvPr/>
        </p:nvSpPr>
        <p:spPr>
          <a:xfrm>
            <a:off x="804672" y="354787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— regulation compare, type approval, CoP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640080" y="3758184"/>
            <a:ext cx="64008" cy="640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0" name="Text 42"/>
          <p:cNvSpPr/>
          <p:nvPr/>
        </p:nvSpPr>
        <p:spPr>
          <a:xfrm>
            <a:off x="804672" y="371703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— scenario generation, sensor fusion, SOTIF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640080" y="3927348"/>
            <a:ext cx="64008" cy="640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2" name="Text 44"/>
          <p:cNvSpPr/>
          <p:nvPr/>
        </p:nvSpPr>
        <p:spPr>
          <a:xfrm>
            <a:off x="804672" y="38862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 — embedded C, ASPICE, UDS, CAPL scripting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640080" y="4096512"/>
            <a:ext cx="64008" cy="640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4" name="Text 46"/>
          <p:cNvSpPr/>
          <p:nvPr/>
        </p:nvSpPr>
        <p:spPr>
          <a:xfrm>
            <a:off x="804672" y="405536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API integration, license mgmt, RPA automation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4754880" y="2798064"/>
            <a:ext cx="3931920" cy="1463040"/>
          </a:xfrm>
          <a:prstGeom prst="rect">
            <a:avLst>
              <a:gd name="adj" fmla="val 5000"/>
            </a:avLst>
          </a:prstGeom>
          <a:solidFill>
            <a:srgbClr val="ECFDF5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2907792"/>
            <a:ext cx="384048" cy="384048"/>
          </a:xfrm>
          <a:prstGeom prst="rect">
            <a:avLst/>
          </a:prstGeom>
        </p:spPr>
      </p:pic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2953512"/>
            <a:ext cx="292608" cy="292608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5349240" y="2871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Takeaways &amp; What's Next</a:t>
            </a:r>
            <a:endParaRPr lang="en-US" sz="1500" dirty="0"/>
          </a:p>
        </p:txBody>
      </p:sp>
      <p:sp>
        <p:nvSpPr>
          <p:cNvPr id="59" name="Text 49"/>
          <p:cNvSpPr/>
          <p:nvPr/>
        </p:nvSpPr>
        <p:spPr>
          <a:xfrm>
            <a:off x="7909560" y="28712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4937760" y="3250692"/>
            <a:ext cx="64008" cy="6400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61" name="Text 51"/>
          <p:cNvSpPr/>
          <p:nvPr/>
        </p:nvSpPr>
        <p:spPr>
          <a:xfrm>
            <a:off x="5102352" y="32095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 they are &amp; how they're reshaping work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4937760" y="3419856"/>
            <a:ext cx="64008" cy="6400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63" name="Text 53"/>
          <p:cNvSpPr/>
          <p:nvPr/>
        </p:nvSpPr>
        <p:spPr>
          <a:xfrm>
            <a:off x="5102352" y="337870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edge: skills AI can't replace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4937760" y="3589020"/>
            <a:ext cx="64008" cy="6400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65" name="Text 55"/>
          <p:cNvSpPr/>
          <p:nvPr/>
        </p:nvSpPr>
        <p:spPr>
          <a:xfrm>
            <a:off x="5102352" y="354787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compete-or-collaborate playbook</a:t>
            </a:r>
            <a:endParaRPr lang="en-US" sz="900" dirty="0"/>
          </a:p>
        </p:txBody>
      </p:sp>
      <p:sp>
        <p:nvSpPr>
          <p:cNvPr id="66" name="Shape 56"/>
          <p:cNvSpPr/>
          <p:nvPr/>
        </p:nvSpPr>
        <p:spPr>
          <a:xfrm>
            <a:off x="4937760" y="3758184"/>
            <a:ext cx="64008" cy="6400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67" name="Text 57"/>
          <p:cNvSpPr/>
          <p:nvPr/>
        </p:nvSpPr>
        <p:spPr>
          <a:xfrm>
            <a:off x="5102352" y="371703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complete session summary</a:t>
            </a:r>
            <a:endParaRPr lang="en-US" sz="900" dirty="0"/>
          </a:p>
        </p:txBody>
      </p:sp>
      <p:sp>
        <p:nvSpPr>
          <p:cNvPr id="68" name="Shape 58"/>
          <p:cNvSpPr/>
          <p:nvPr/>
        </p:nvSpPr>
        <p:spPr>
          <a:xfrm>
            <a:off x="4937760" y="3927348"/>
            <a:ext cx="64008" cy="6400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69" name="Text 59"/>
          <p:cNvSpPr/>
          <p:nvPr/>
        </p:nvSpPr>
        <p:spPr>
          <a:xfrm>
            <a:off x="5102352" y="38862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open discussion</a:t>
            </a:r>
            <a:endParaRPr lang="en-US" sz="900" dirty="0"/>
          </a:p>
        </p:txBody>
      </p:sp>
      <p:sp>
        <p:nvSpPr>
          <p:cNvPr id="70" name="Shape 60"/>
          <p:cNvSpPr/>
          <p:nvPr/>
        </p:nvSpPr>
        <p:spPr>
          <a:xfrm>
            <a:off x="457200" y="4434840"/>
            <a:ext cx="8229600" cy="502920"/>
          </a:xfrm>
          <a:prstGeom prst="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71" name="Text 6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Shashwat Patel</a:t>
            </a:r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Senior Engineer  |  Vehicle Integration &amp; Controls  |  Nissan Motor Corporation • Powertrain Division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• THE FUTURE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Coming. Here's How You Stay Ahead.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24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Agents 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353312"/>
            <a:ext cx="3931920" cy="640080"/>
          </a:xfrm>
          <a:prstGeom prst="rect">
            <a:avLst>
              <a:gd name="adj" fmla="val 8571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353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chatbots that respond to ONE prompt, AI agents autonomously plan multi-step tasks, use tools (search, code, APIs), make decisions, and self-correct — with minimal human input.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140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121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at Risk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395728"/>
            <a:ext cx="3931920" cy="256032"/>
          </a:xfrm>
          <a:prstGeom prst="rect">
            <a:avLst>
              <a:gd name="adj" fmla="val 10714"/>
            </a:avLst>
          </a:prstGeom>
          <a:solidFill>
            <a:srgbClr val="FFF5F5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writers: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generate reports end-to-end from data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2706624"/>
            <a:ext cx="3931920" cy="256032"/>
          </a:xfrm>
          <a:prstGeom prst="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594360" y="2706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/ formatting: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Excel macros, fill forms, file documents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3931920" cy="256032"/>
          </a:xfrm>
          <a:prstGeom prst="rect">
            <a:avLst>
              <a:gd name="adj" fmla="val 10714"/>
            </a:avLst>
          </a:prstGeom>
          <a:solidFill>
            <a:srgbClr val="FFF5F5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code generation: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write, test, and deploy simple scripts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3328416"/>
            <a:ext cx="3931920" cy="256032"/>
          </a:xfrm>
          <a:prstGeom prst="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testing: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regression suites, log results, flag failures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3639312"/>
            <a:ext cx="3931920" cy="256032"/>
          </a:xfrm>
          <a:prstGeom prst="rect">
            <a:avLst>
              <a:gd name="adj" fmla="val 10714"/>
            </a:avLst>
          </a:prstGeom>
          <a:solidFill>
            <a:srgbClr val="FFF5F5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support / triage: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classify tickets, run diagnostics, escalate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2412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74920" y="1024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Unfair Advantage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754880" y="1353312"/>
            <a:ext cx="3931920" cy="502920"/>
          </a:xfrm>
          <a:prstGeom prst="rect">
            <a:avLst>
              <a:gd name="adj" fmla="val 9091"/>
            </a:avLst>
          </a:prstGeom>
          <a:solidFill>
            <a:srgbClr val="F8FAF8"/>
          </a:solidFill>
          <a:ln/>
        </p:spPr>
      </p:sp>
      <p:sp>
        <p:nvSpPr>
          <p:cNvPr id="24" name="Shape 19"/>
          <p:cNvSpPr/>
          <p:nvPr/>
        </p:nvSpPr>
        <p:spPr>
          <a:xfrm>
            <a:off x="4754880" y="1353312"/>
            <a:ext cx="45720" cy="5029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4475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57800" y="1371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Judgment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257800" y="1572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can't understand WHY a crash sim result matters for vehicle safety. Your engineering judgment is irreplaceable.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754880" y="1920240"/>
            <a:ext cx="3931920" cy="502920"/>
          </a:xfrm>
          <a:prstGeom prst="rect">
            <a:avLst>
              <a:gd name="adj" fmla="val 9091"/>
            </a:avLst>
          </a:prstGeom>
          <a:solidFill>
            <a:srgbClr val="F8FAF8"/>
          </a:solidFill>
          <a:ln/>
        </p:spPr>
      </p:sp>
      <p:sp>
        <p:nvSpPr>
          <p:cNvPr id="29" name="Shape 23"/>
          <p:cNvSpPr/>
          <p:nvPr/>
        </p:nvSpPr>
        <p:spPr>
          <a:xfrm>
            <a:off x="4754880" y="1920240"/>
            <a:ext cx="45720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0116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1938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You = 10× Engineer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257800" y="2139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agents as force multipliers — let them handle grunt work while you focus on decisions, design, and innovation.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754880" y="2487168"/>
            <a:ext cx="3931920" cy="502920"/>
          </a:xfrm>
          <a:prstGeom prst="rect">
            <a:avLst>
              <a:gd name="adj" fmla="val 9091"/>
            </a:avLst>
          </a:prstGeom>
          <a:solidFill>
            <a:srgbClr val="F8FAF8"/>
          </a:solidFill>
          <a:ln/>
        </p:spPr>
      </p:sp>
      <p:sp>
        <p:nvSpPr>
          <p:cNvPr id="34" name="Shape 27"/>
          <p:cNvSpPr/>
          <p:nvPr/>
        </p:nvSpPr>
        <p:spPr>
          <a:xfrm>
            <a:off x="4754880" y="2487168"/>
            <a:ext cx="45720" cy="5029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78608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57800" y="2505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&amp; Trust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257800" y="2706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OEMs, and customers trust HUMANS. You sign off on safety — AI can't do that. Own that responsibility.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4754880" y="3054096"/>
            <a:ext cx="3931920" cy="502920"/>
          </a:xfrm>
          <a:prstGeom prst="rect">
            <a:avLst>
              <a:gd name="adj" fmla="val 9091"/>
            </a:avLst>
          </a:prstGeom>
          <a:solidFill>
            <a:srgbClr val="F8FAF8"/>
          </a:solidFill>
          <a:ln/>
        </p:spPr>
      </p:sp>
      <p:sp>
        <p:nvSpPr>
          <p:cNvPr id="39" name="Shape 31"/>
          <p:cNvSpPr/>
          <p:nvPr/>
        </p:nvSpPr>
        <p:spPr>
          <a:xfrm>
            <a:off x="4754880" y="3054096"/>
            <a:ext cx="45720" cy="50292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145536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257800" y="3072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Orchestrate AI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5257800" y="3273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superpower: knowing WHICH AI to use, HOW to prompt it, and WHEN to override it. Be the conductor, not the instrument.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4754880" y="3621024"/>
            <a:ext cx="3931920" cy="502920"/>
          </a:xfrm>
          <a:prstGeom prst="rect">
            <a:avLst>
              <a:gd name="adj" fmla="val 9091"/>
            </a:avLst>
          </a:prstGeom>
          <a:solidFill>
            <a:srgbClr val="F8FAF8"/>
          </a:solidFill>
          <a:ln/>
        </p:spPr>
      </p:sp>
      <p:sp>
        <p:nvSpPr>
          <p:cNvPr id="44" name="Shape 35"/>
          <p:cNvSpPr/>
          <p:nvPr/>
        </p:nvSpPr>
        <p:spPr>
          <a:xfrm>
            <a:off x="4754880" y="3621024"/>
            <a:ext cx="45720" cy="5029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12464"/>
            <a:ext cx="274320" cy="2743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257800" y="3639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Creativity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52578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optimizes within boundaries. Humans connect dots across disciplines — that's where breakthroughs happen.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457200" y="4160520"/>
            <a:ext cx="8229600" cy="777240"/>
          </a:xfrm>
          <a:prstGeom prst="rect">
            <a:avLst>
              <a:gd name="adj" fmla="val 7059"/>
            </a:avLst>
          </a:prstGeom>
          <a:solidFill>
            <a:srgbClr val="F0F4F8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4224528"/>
            <a:ext cx="256032" cy="256032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1440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Boring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914400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agents handle reports, formatting, boilerplate</a:t>
            </a:r>
            <a:endParaRPr lang="en-US" sz="9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4224528"/>
            <a:ext cx="256032" cy="25603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370332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Your Work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3703320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judgment, design, innovation, safety</a:t>
            </a:r>
            <a:endParaRPr lang="en-US" sz="9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4224528"/>
            <a:ext cx="256032" cy="256032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49224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 Tools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6492240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new literacy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+ AI Agents Slide</dc:title>
  <dc:subject>PptxGenJS Presentation</dc:subject>
  <dc:creator>Shashwat Patel</dc:creator>
  <cp:lastModifiedBy>Shashwat Patel</cp:lastModifiedBy>
  <cp:revision>1</cp:revision>
  <dcterms:created xsi:type="dcterms:W3CDTF">2026-02-08T04:57:15Z</dcterms:created>
  <dcterms:modified xsi:type="dcterms:W3CDTF">2026-02-08T04:57:15Z</dcterms:modified>
</cp:coreProperties>
</file>