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AI/ML/DL/NN explained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nesting diagram showing AI ⊃ ML ⊃ DL ⊃ NN, plus Gen AI and AGI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definition, Narrow AI vs AGI, real-world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Learning: definition, traditional vs ML, 3 types with automotive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Neural networks: structure, layers, key concepts, automotive analogy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Learning: definition, shallow vs deep, 4 architectures with automotive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AI: definition, comparison, LLM architecture and key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 vs AGI vs ASI, plus glossary of related AI terms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comparison table: AI vs ML vs DL vs NN vs Gen AI vs AGI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Machine Learning, Deep Learning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Neural Networks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Difference? — A Visual, Example-Driven Guide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1097280"/>
          </a:xfrm>
          <a:prstGeom prst="rect">
            <a:avLst>
              <a:gd name="adj" fmla="val 6667"/>
            </a:avLst>
          </a:prstGeom>
          <a:solidFill>
            <a:srgbClr val="E74C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40280" y="2606040"/>
            <a:ext cx="1463040" cy="1097280"/>
          </a:xfrm>
          <a:prstGeom prst="rect">
            <a:avLst>
              <a:gd name="adj" fmla="val 6667"/>
            </a:avLst>
          </a:prstGeom>
          <a:solidFill>
            <a:srgbClr val="1565C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697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02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840480" y="2606040"/>
            <a:ext cx="1463040" cy="1097280"/>
          </a:xfrm>
          <a:prstGeom prst="rect">
            <a:avLst>
              <a:gd name="adj" fmla="val 6667"/>
            </a:avLst>
          </a:prstGeom>
          <a:solidFill>
            <a:srgbClr val="6C5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697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40680" y="2606040"/>
            <a:ext cx="1463040" cy="1097280"/>
          </a:xfrm>
          <a:prstGeom prst="rect">
            <a:avLst>
              <a:gd name="adj" fmla="val 6667"/>
            </a:avLst>
          </a:prstGeom>
          <a:solidFill>
            <a:srgbClr val="00B89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6974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040880" y="2606040"/>
            <a:ext cx="1463040" cy="1097280"/>
          </a:xfrm>
          <a:prstGeom prst="rect">
            <a:avLst>
              <a:gd name="adj" fmla="val 6667"/>
            </a:avLst>
          </a:prstGeom>
          <a:solidFill>
            <a:srgbClr val="F59E0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6974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AGI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31520" y="4069080"/>
            <a:ext cx="7680960" cy="502920"/>
          </a:xfrm>
          <a:prstGeom prst="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subset of the previous — like Russian nesting dolls of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• VISUAL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All Fit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017520"/>
          </a:xfrm>
          <a:prstGeom prst="roundRect">
            <a:avLst>
              <a:gd name="adj" fmla="val 4545"/>
            </a:avLst>
          </a:prstGeom>
          <a:solidFill>
            <a:srgbClr val="FDEC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mimics human intelligence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7315200" cy="2286000"/>
          </a:xfrm>
          <a:prstGeom prst="roundRect">
            <a:avLst>
              <a:gd name="adj" fmla="val 4800"/>
            </a:avLst>
          </a:prstGeom>
          <a:solidFill>
            <a:srgbClr val="E8F0FE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984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from data without explicit programming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6400800" cy="1554480"/>
          </a:xfrm>
          <a:prstGeom prst="roundRect">
            <a:avLst>
              <a:gd name="adj" fmla="val 5882"/>
            </a:avLst>
          </a:prstGeom>
          <a:solidFill>
            <a:srgbClr val="EDE7F6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532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multi-layered neural networks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0" y="283464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E0F7E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081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Brain-inspired nodes in layers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building blocks of DL)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models that CREATE new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(text, images, code)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2103120" cy="365760"/>
          </a:xfrm>
          <a:prstGeom prst="rect">
            <a:avLst>
              <a:gd name="adj" fmla="val 10000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Siri, Chess engines, Spam filters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828800"/>
            <a:ext cx="1371600" cy="320040"/>
          </a:xfrm>
          <a:prstGeom prst="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Netflix, fraud detection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88036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63840" y="3200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(doesn't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yet)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a SUBSET of the one outside it. All Deep Learning is ML, but not all ML is Deep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• ARTIFICIAL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The Broadest Umbrella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005840"/>
          </a:xfrm>
          <a:prstGeom prst="rect">
            <a:avLst>
              <a:gd name="adj" fmla="val 7273"/>
            </a:avLst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computer system designed to perform tasks that normally require human intelligence — reasoning, learning, perception, language understanding, decision-making.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20040" cy="32004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22529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63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Types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54880" y="1600200"/>
            <a:ext cx="3931920" cy="594360"/>
          </a:xfrm>
          <a:prstGeom prst="rect">
            <a:avLst>
              <a:gd name="adj" fmla="val 9231"/>
            </a:avLst>
          </a:prstGeom>
          <a:solidFill>
            <a:srgbClr val="EBF5FF"/>
          </a:solidFill>
          <a:ln/>
        </p:spPr>
      </p:sp>
      <p:sp>
        <p:nvSpPr>
          <p:cNvPr id="14" name="Text 9"/>
          <p:cNvSpPr/>
          <p:nvPr/>
        </p:nvSpPr>
        <p:spPr>
          <a:xfrm>
            <a:off x="4892040" y="16276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(ANI) — What exists today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ONE specific task. Can beat humans at that task but can't do anything else.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2286000"/>
            <a:ext cx="3931920" cy="594360"/>
          </a:xfrm>
          <a:prstGeom prst="rect">
            <a:avLst>
              <a:gd name="adj" fmla="val 9231"/>
            </a:avLst>
          </a:prstGeom>
          <a:solidFill>
            <a:srgbClr val="FFF9E6"/>
          </a:solidFill>
          <a:ln/>
        </p:spPr>
      </p:sp>
      <p:sp>
        <p:nvSpPr>
          <p:cNvPr id="16" name="Text 11"/>
          <p:cNvSpPr/>
          <p:nvPr/>
        </p:nvSpPr>
        <p:spPr>
          <a:xfrm>
            <a:off x="4892040" y="2313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(AGI) — Doesn't exist yet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match or exceed human intelligence across ALL domains. The "holy grail" — still theoretical.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Your Daily Life — Both Rule-Based and Learning-Based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337560"/>
            <a:ext cx="1965960" cy="914400"/>
          </a:xfrm>
          <a:prstGeom prst="rect">
            <a:avLst>
              <a:gd name="adj" fmla="val 6000"/>
            </a:avLst>
          </a:prstGeom>
          <a:solidFill>
            <a:srgbClr val="EBF5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015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sensors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IF distance &lt; 30cm THEN beep faster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606040" y="3337560"/>
            <a:ext cx="1965960" cy="914400"/>
          </a:xfrm>
          <a:prstGeom prst="rect">
            <a:avLst>
              <a:gd name="adj" fmla="val 6000"/>
            </a:avLst>
          </a:prstGeom>
          <a:solidFill>
            <a:srgbClr val="F3EE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40156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01752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269748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ranking of billions of pages by relevance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4754880" y="3337560"/>
            <a:ext cx="1965960" cy="914400"/>
          </a:xfrm>
          <a:prstGeom prst="rect">
            <a:avLst>
              <a:gd name="adj" fmla="val 6000"/>
            </a:avLst>
          </a:prstGeom>
          <a:solidFill>
            <a:srgbClr val="FFF0F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0156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84632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recognizes YOUR face vs 7 billion others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903720" y="3337560"/>
            <a:ext cx="1965960" cy="914400"/>
          </a:xfrm>
          <a:prstGeom prst="rect">
            <a:avLst>
              <a:gd name="adj" fmla="val 6000"/>
            </a:avLst>
          </a:prstGeom>
          <a:solidFill>
            <a:srgbClr val="E6FFF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340156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15200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699516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creates new text from learned patterns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35" name="Text 26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UMBRELLA — everything else (ML, DL, NN, Gen AI) lives under 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•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Learning From Data, Not Rules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ect">
            <a:avLst>
              <a:gd name="adj" fmla="val 10667"/>
            </a:avLst>
          </a:prstGeom>
          <a:solidFill>
            <a:srgbClr val="E8F0F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858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3444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rules, you feed the computer DATA and let it LEARN the rules itself. The more data, the better it gets.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 vs. Machine Learning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3931920" cy="822960"/>
          </a:xfrm>
          <a:prstGeom prst="rect">
            <a:avLst>
              <a:gd name="adj" fmla="val 6667"/>
            </a:avLst>
          </a:prstGeom>
          <a:solidFill>
            <a:srgbClr val="FF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359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(Rule-Based)
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writes rules → Computer follows them
</a:t>
            </a:r>
            <a:pPr indent="0" marL="0">
              <a:buNone/>
            </a:pPr>
            <a:r>
              <a:rPr lang="en-US" sz="9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 &gt; 100°C AND pressure &gt; 5bar THEN alarm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3931920" cy="822960"/>
          </a:xfrm>
          <a:prstGeom prst="rect">
            <a:avLst>
              <a:gd name="adj" fmla="val 6667"/>
            </a:avLst>
          </a:prstGeom>
          <a:solidFill>
            <a:srgbClr val="E8FAF0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359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
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gives data + answers → Computer learns rules
</a:t>
            </a:r>
            <a:pPr indent="0" marL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10,000 engine failures → ML learns warning patterns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0" y="2468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Machine Learning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2697480" cy="1325880"/>
          </a:xfrm>
          <a:prstGeom prst="rect">
            <a:avLst>
              <a:gd name="adj" fmla="val 4138"/>
            </a:avLst>
          </a:prstGeom>
          <a:solidFill>
            <a:srgbClr val="EBF5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248" y="3657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3931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data: input + correct answer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"These 50,000 images are cats/dogs" → Model learns to classify new images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48640" y="4572000"/>
            <a:ext cx="2514600" cy="292608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" y="4572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</a:t>
            </a:r>
            <a:pPr indent="0" marL="0">
              <a:buNone/>
            </a:pPr>
            <a:r>
              <a:rPr lang="en-US" sz="7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ADAS: Labeled driving scenarios → trained object detection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337560" y="3611880"/>
            <a:ext cx="2697480" cy="1325880"/>
          </a:xfrm>
          <a:prstGeom prst="rect">
            <a:avLst>
              <a:gd name="adj" fmla="val 4138"/>
            </a:avLst>
          </a:prstGeom>
          <a:solidFill>
            <a:srgbClr val="F3EE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65760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21608" y="3657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429000" y="3931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labels: find hidden patterns in data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 purchase data → discover natural groupings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429000" y="4572000"/>
            <a:ext cx="2514600" cy="292608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3474720" y="4572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</a:t>
            </a:r>
            <a:pPr indent="0" marL="0">
              <a:buNone/>
            </a:pPr>
            <a:r>
              <a:rPr lang="en-US" sz="7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Warranty: Cluster failure patterns across 1M vehicles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217920" y="3611880"/>
            <a:ext cx="2697480" cy="1325880"/>
          </a:xfrm>
          <a:prstGeom prst="rect">
            <a:avLst>
              <a:gd name="adj" fmla="val 4138"/>
            </a:avLst>
          </a:prstGeom>
          <a:solidFill>
            <a:srgbClr val="E6FFF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576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01968" y="3657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309360" y="3931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error with rewards/penalties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AlphaGo learned by playing millions of games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309360" y="4572000"/>
            <a:ext cx="2514600" cy="292608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</a:t>
            </a:r>
            <a:pPr indent="0" marL="0">
              <a:buNone/>
            </a:pPr>
            <a:r>
              <a:rPr lang="en-US" sz="750" i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driving: reward for safe lane changes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• NEURAL NETWORKS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Inspired by the Human Brain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>
              <a:gd name="adj" fmla="val 11429"/>
            </a:avLst>
          </a:prstGeom>
          <a:solidFill>
            <a:srgbClr val="E0F7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1615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Network: </a:t>
            </a:r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model inspired by biological neurons. Data flows through layers of connected "nodes" — each adjusting its weight until the network learns the correct output.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Neural Network Works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53746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85750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17754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49758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114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77440" y="237744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77440" y="269748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77440" y="301752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77440" y="333756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77440" y="365760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48840" y="4114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31920" y="237744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31920" y="269748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31920" y="301752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0" y="333756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31920" y="3657600"/>
            <a:ext cx="201168" cy="2011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03320" y="4114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0" y="2697480"/>
            <a:ext cx="201168" cy="20116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3017520"/>
            <a:ext cx="201168" cy="20116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0" y="3337560"/>
            <a:ext cx="201168" cy="20116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57800" y="4114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23444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278892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434340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2179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17920" y="2331720"/>
            <a:ext cx="2468880" cy="457200"/>
          </a:xfrm>
          <a:prstGeom prst="rect">
            <a:avLst>
              <a:gd name="adj" fmla="val 10000"/>
            </a:avLst>
          </a:prstGeom>
          <a:solidFill>
            <a:srgbClr val="EBF5FF"/>
          </a:solidFill>
          <a:ln/>
        </p:spPr>
      </p:sp>
      <p:sp>
        <p:nvSpPr>
          <p:cNvPr id="36" name="Text 33"/>
          <p:cNvSpPr/>
          <p:nvPr/>
        </p:nvSpPr>
        <p:spPr>
          <a:xfrm>
            <a:off x="6355080" y="2350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(Nodes)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355080" y="2532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functions that take inputs, apply weights, and produce an output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217920" y="2862072"/>
            <a:ext cx="2468880" cy="457200"/>
          </a:xfrm>
          <a:prstGeom prst="rect">
            <a:avLst>
              <a:gd name="adj" fmla="val 10000"/>
            </a:avLst>
          </a:prstGeom>
          <a:solidFill>
            <a:srgbClr val="F3EEFF"/>
          </a:solidFill>
          <a:ln/>
        </p:spPr>
      </p:sp>
      <p:sp>
        <p:nvSpPr>
          <p:cNvPr id="39" name="Text 36"/>
          <p:cNvSpPr/>
          <p:nvPr/>
        </p:nvSpPr>
        <p:spPr>
          <a:xfrm>
            <a:off x="6355080" y="2880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55080" y="3063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parameters — training = finding the right weights through backpropagation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217920" y="3392424"/>
            <a:ext cx="2468880" cy="457200"/>
          </a:xfrm>
          <a:prstGeom prst="rect">
            <a:avLst>
              <a:gd name="adj" fmla="val 10000"/>
            </a:avLst>
          </a:prstGeom>
          <a:solidFill>
            <a:srgbClr val="E6FFFE"/>
          </a:solidFill>
          <a:ln/>
        </p:spPr>
      </p:sp>
      <p:sp>
        <p:nvSpPr>
          <p:cNvPr id="42" name="Text 39"/>
          <p:cNvSpPr/>
          <p:nvPr/>
        </p:nvSpPr>
        <p:spPr>
          <a:xfrm>
            <a:off x="6355080" y="3410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355080" y="3593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a neuron "fires" — like a threshold. ReLU, Sigmoid, Softmax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217920" y="3922776"/>
            <a:ext cx="2468880" cy="457200"/>
          </a:xfrm>
          <a:prstGeom prst="rect">
            <a:avLst>
              <a:gd name="adj" fmla="val 10000"/>
            </a:avLst>
          </a:prstGeom>
          <a:solidFill>
            <a:srgbClr val="FFF9E6"/>
          </a:solidFill>
          <a:ln/>
        </p:spPr>
      </p:sp>
      <p:sp>
        <p:nvSpPr>
          <p:cNvPr id="45" name="Text 42"/>
          <p:cNvSpPr/>
          <p:nvPr/>
        </p:nvSpPr>
        <p:spPr>
          <a:xfrm>
            <a:off x="6355080" y="3941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Iteration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55080" y="4123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 → Check error → Adjust weights → Repeat millions of times until accurate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48" name="Text 45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Analogy: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like an ECU that learns calibration maps from test data instead of being hand-tuned by engineers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• 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Neural Networks on Steroids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>
              <a:gd name="adj" fmla="val 11429"/>
            </a:avLst>
          </a:prstGeom>
          <a:solidFill>
            <a:srgbClr val="EDE7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1615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</a:t>
            </a:r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MANY hidden layers (10s to 100s). "Deep" = many layers. More layers = ability to learn increasingly complex and abstract features from raw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vs. Deep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3931920" cy="685800"/>
          </a:xfrm>
          <a:prstGeom prst="rect">
            <a:avLst>
              <a:gd name="adj" fmla="val 8000"/>
            </a:avLst>
          </a:prstGeom>
          <a:solidFill>
            <a:srgbClr val="FF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313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Neural Network (1-2 layers)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1 hidden layer → Output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learn simple patterns: spam detection, basic regression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286000"/>
            <a:ext cx="3931920" cy="685800"/>
          </a:xfrm>
          <a:prstGeom prst="rect">
            <a:avLst>
              <a:gd name="adj" fmla="val 8000"/>
            </a:avLst>
          </a:prstGeom>
          <a:solidFill>
            <a:srgbClr val="EDE7F6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313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 (10-1000+ layers)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hundreds of hidden layers → Output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hierarchical features: edges → shapes → objects → scenes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Deep Learning Architectures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1965960" cy="1463040"/>
          </a:xfrm>
          <a:prstGeom prst="rect">
            <a:avLst>
              <a:gd name="adj" fmla="val 3750"/>
            </a:avLst>
          </a:prstGeom>
          <a:solidFill>
            <a:srgbClr val="EBF5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48640" y="3950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video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30352" y="4160520"/>
            <a:ext cx="182880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576072" y="4187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Tesla Autopilot: detects pedestrians, lanes, signs from camera feed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2606040" y="3474720"/>
            <a:ext cx="1965960" cy="1463040"/>
          </a:xfrm>
          <a:prstGeom prst="rect">
            <a:avLst>
              <a:gd name="adj" fmla="val 3750"/>
            </a:avLst>
          </a:prstGeom>
          <a:solidFill>
            <a:srgbClr val="E8FAF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352044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953512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69748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697480" y="3950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679192" y="4160520"/>
            <a:ext cx="182880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/>
          <p:nvPr/>
        </p:nvSpPr>
        <p:spPr>
          <a:xfrm>
            <a:off x="2724912" y="4187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Predictive maintenance: learns time-series patterns in sensor data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4754880" y="3474720"/>
            <a:ext cx="1965960" cy="1463040"/>
          </a:xfrm>
          <a:prstGeom prst="rect">
            <a:avLst>
              <a:gd name="adj" fmla="val 3750"/>
            </a:avLst>
          </a:prstGeom>
          <a:solidFill>
            <a:srgbClr val="F3EE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2044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02352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84632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Model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846320" y="3950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code, everything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828032" y="4160520"/>
            <a:ext cx="182880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4873752" y="4187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GPT-4, Copilot, Claude — the architecture behind ALL modern LLMs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6903720" y="3474720"/>
            <a:ext cx="1965960" cy="1463040"/>
          </a:xfrm>
          <a:prstGeom prst="rect">
            <a:avLst>
              <a:gd name="adj" fmla="val 3750"/>
            </a:avLst>
          </a:prstGeom>
          <a:solidFill>
            <a:srgbClr val="FFF0F5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52044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51192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995160" y="37673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6995160" y="3950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data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6976872" y="4160520"/>
            <a:ext cx="182880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42" name="Text 35"/>
          <p:cNvSpPr/>
          <p:nvPr/>
        </p:nvSpPr>
        <p:spPr>
          <a:xfrm>
            <a:off x="7022592" y="4187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Synthetic crash test scenarios for CAE virtual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FRONTIER • GENERATIVE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Large Language Models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94360"/>
          </a:xfrm>
          <a:prstGeom prst="rect">
            <a:avLst>
              <a:gd name="adj" fmla="val 12308"/>
            </a:avLst>
          </a:prstGeom>
          <a:solidFill>
            <a:srgbClr val="FFF8E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16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</a:t>
            </a:r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trained to CREATE new content — text, images, code, music — rather than just classify or predict. They learn the statistical structure of training data and generate similar but original outputs.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vs. Generative AI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931920" cy="731520"/>
          </a:xfrm>
          <a:prstGeom prst="rect">
            <a:avLst>
              <a:gd name="adj" fmla="val 7500"/>
            </a:avLst>
          </a:prstGeom>
          <a:solidFill>
            <a:srgbClr val="FF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2677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(Analytical)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email spam?" → Yes/No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"Probability of rain?" → 73%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predicts, detects — but never creates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240280"/>
            <a:ext cx="3931920" cy="731520"/>
          </a:xfrm>
          <a:prstGeom prst="rect">
            <a:avLst>
              <a:gd name="adj" fmla="val 7500"/>
            </a:avLst>
          </a:prstGeom>
          <a:solidFill>
            <a:srgbClr val="FFF8E1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2677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(Creative)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an email about..." → Full email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MATLAB script..." → Working code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text, code, images, audio, video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 (Large Language Model)?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1965960" cy="1417320"/>
          </a:xfrm>
          <a:prstGeom prst="rect">
            <a:avLst>
              <a:gd name="adj" fmla="val 3871"/>
            </a:avLst>
          </a:prstGeom>
          <a:solidFill>
            <a:srgbClr val="EBF5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958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3529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382219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TRILLIONS of tokens from the internet — books, code, papers, forums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606040" y="3474720"/>
            <a:ext cx="1965960" cy="1417320"/>
          </a:xfrm>
          <a:prstGeom prst="rect">
            <a:avLst>
              <a:gd name="adj" fmla="val 3871"/>
            </a:avLst>
          </a:prstGeom>
          <a:solidFill>
            <a:srgbClr val="F3EE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352958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971800" y="3529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697480" y="382219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Transformers (2017 Google paper). Self-attention lets them understand context across long text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54880" y="3474720"/>
            <a:ext cx="1965960" cy="1417320"/>
          </a:xfrm>
          <a:prstGeom prst="rect">
            <a:avLst>
              <a:gd name="adj" fmla="val 3871"/>
            </a:avLst>
          </a:prstGeom>
          <a:solidFill>
            <a:srgbClr val="FFF9E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2958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3529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846320" y="382219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based on probability. "The car crashed into the ___" → "wall" (87%), "tree" (9%)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903720" y="3474720"/>
            <a:ext cx="1965960" cy="1417320"/>
          </a:xfrm>
          <a:prstGeom prst="rect">
            <a:avLst>
              <a:gd name="adj" fmla="val 3871"/>
            </a:avLst>
          </a:prstGeom>
          <a:solidFill>
            <a:srgbClr val="E6FFF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52958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69480" y="35295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995160" y="382219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(OpenAI), Claude (Anthropic), Gemini (Google), LLaMA (Meta) — all Transformer-based LLMs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 • AGI &amp; BEYOND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AGI, ASI &amp; What the Future Holds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2743200"/>
          </a:xfrm>
          <a:prstGeom prst="rect">
            <a:avLst>
              <a:gd name="adj" fmla="val 2712"/>
            </a:avLst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— Narrow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TODAY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29384"/>
            <a:ext cx="73152" cy="7315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ONE specific task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276856"/>
            <a:ext cx="73152" cy="7315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transfer knowledge across domains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624328"/>
            <a:ext cx="73152" cy="7315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69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can write code but can't drive a car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971800"/>
            <a:ext cx="73152" cy="7315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16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beats world champion but can't play checkers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246888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Exists now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18872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8E1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— Artificial General Intelligence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4728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192938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630168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intelligence across ALL tasks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27685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reason, plan, learn new skills independently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262432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630168" y="2569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pass any test a human could pass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29718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630168" y="2916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Estimates: 5-50 years away (highly debated)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47288" y="3383280"/>
            <a:ext cx="246888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47288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 stage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2697480" cy="2743200"/>
          </a:xfrm>
          <a:prstGeom prst="rect">
            <a:avLst>
              <a:gd name="adj" fmla="val 2712"/>
            </a:avLst>
          </a:prstGeom>
          <a:solidFill>
            <a:srgbClr val="FE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— Artificial Superintelligence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human comprehension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1929384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ALL human intelligence combined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55080" y="2276856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solve problems we can't even formulate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26243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6510528" y="2569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"control problem" — how to keep it aligned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55080" y="2971800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4" name="Text 42"/>
          <p:cNvSpPr/>
          <p:nvPr/>
        </p:nvSpPr>
        <p:spPr>
          <a:xfrm>
            <a:off x="6510528" y="2916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theoretical — may never happen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27648" y="3383280"/>
            <a:ext cx="2468880" cy="32004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Theoretical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8229600" cy="822960"/>
          </a:xfrm>
          <a:prstGeom prst="rect">
            <a:avLst>
              <a:gd name="adj" fmla="val 6667"/>
            </a:avLst>
          </a:prstGeom>
          <a:solidFill>
            <a:srgbClr val="F8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187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Terms You'll Hear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" y="44348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— AI understanding human language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4360" y="45994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"sees" — image recognition, object detection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" y="4764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LLM + search (how Copilot works)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09160" y="44348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pre-trained model to a specific domain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09160" y="45994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pre-trained model (GPT-4, Claude) adapted for many tasks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09160" y="4764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— how ChatGPT learned to be helpful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COMPARISON •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DL vs NN — Side by Side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017520"/>
        </p:xfrm>
        <a:graphic>
          <a:graphicData uri="http://schemas.openxmlformats.org/drawingml/2006/table">
            <a:tbl>
              <a:tblPr/>
              <a:tblGrid>
                <a:gridCol w="731520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Umbrella term for machines mimicking intelligence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 of AI that learns from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with many-layered neural networks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blocks — layers of connected nodes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models that create new content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with human-level general intelligence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always (rule-based)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from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hierarchical features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via weight adjustment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probability distributions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learn anything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needed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(thousands)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(millions+)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to large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Enormous (trillions of tokens)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Thermostat, chess engine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filter, fraud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Self-driving vision, speech recognition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classifier, signal processing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DALL-E, Copilot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exist yet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ABS, cruise control logic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Warranty prediction, defect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 object detection, NVH analysis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fusion, pattern recognition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drafting, code gen, docs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 engineering?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master the math — but understanding WHAT each term means helps you choose the right AI tool for your problem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vs ML vs DL vs NN - Explained</dc:title>
  <dc:subject>PptxGenJS Presentation</dc:subject>
  <dc:creator>Shashwat Patel</dc:creator>
  <cp:lastModifiedBy>Shashwat Patel</cp:lastModifiedBy>
  <cp:revision>1</cp:revision>
  <dcterms:created xsi:type="dcterms:W3CDTF">2026-02-08T05:05:32Z</dcterms:created>
  <dcterms:modified xsi:type="dcterms:W3CDTF">2026-02-08T05:05:32Z</dcterms:modified>
</cp:coreProperties>
</file>