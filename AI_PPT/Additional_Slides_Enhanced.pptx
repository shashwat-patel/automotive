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Copilot for all teams - enhanced with icons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CAE team with icons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CAE prompt templates with icons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team with icons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Homologation team with icons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ADAS team with icons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 Dev team with icons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team with icons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Copilot enhanced with icons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Cross-team cheat sheet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in the life enhanced with icons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 safety guide for all teams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session takeaway — covers AI fundamentals, Copilot, all teams, safety, and action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Across All Engineering Teams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Software — AI for Every Engineering Discipline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1298448" cy="1234440"/>
          </a:xfrm>
          <a:prstGeom prst="rect">
            <a:avLst>
              <a:gd name="adj" fmla="val 5926"/>
            </a:avLst>
          </a:prstGeom>
          <a:solidFill>
            <a:srgbClr val="4ECDC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65176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10896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11096" y="2514600"/>
            <a:ext cx="1298448" cy="1234440"/>
          </a:xfrm>
          <a:prstGeom prst="rect">
            <a:avLst>
              <a:gd name="adj" fmla="val 5926"/>
            </a:avLst>
          </a:prstGeom>
          <a:solidFill>
            <a:srgbClr val="FF6B6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152" y="265176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11096" y="310896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19272" y="2514600"/>
            <a:ext cx="1298448" cy="1234440"/>
          </a:xfrm>
          <a:prstGeom prst="rect">
            <a:avLst>
              <a:gd name="adj" fmla="val 5926"/>
            </a:avLst>
          </a:prstGeom>
          <a:solidFill>
            <a:srgbClr val="FFD93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65176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9272" y="310896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Homologation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727448" y="2514600"/>
            <a:ext cx="1298448" cy="1234440"/>
          </a:xfrm>
          <a:prstGeom prst="rect">
            <a:avLst>
              <a:gd name="adj" fmla="val 5926"/>
            </a:avLst>
          </a:prstGeom>
          <a:solidFill>
            <a:srgbClr val="6C5CE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2651760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27448" y="310896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35624" y="2514600"/>
            <a:ext cx="1298448" cy="1234440"/>
          </a:xfrm>
          <a:prstGeom prst="rect">
            <a:avLst>
              <a:gd name="adj" fmla="val 5926"/>
            </a:avLst>
          </a:prstGeom>
          <a:solidFill>
            <a:srgbClr val="00B894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651760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35624" y="310896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Dev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543800" y="2514600"/>
            <a:ext cx="1298448" cy="1234440"/>
          </a:xfrm>
          <a:prstGeom prst="rect">
            <a:avLst>
              <a:gd name="adj" fmla="val 5926"/>
            </a:avLst>
          </a:prstGeom>
          <a:solidFill>
            <a:srgbClr val="FD79A8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1856" y="2651760"/>
            <a:ext cx="402336" cy="40233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543800" y="310896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731520" y="4114800"/>
            <a:ext cx="7680960" cy="548640"/>
          </a:xfrm>
          <a:prstGeom prst="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Text 17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has unique workflows where Copilot and AI assistants can save hours per week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TEAM • SIMULATION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CAE Workflows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777240"/>
          </a:xfrm>
          <a:prstGeom prst="rect">
            <a:avLst>
              <a:gd name="adj" fmla="val 9412"/>
            </a:avLst>
          </a:prstGeom>
          <a:solidFill>
            <a:srgbClr val="EBF5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0180"/>
            <a:ext cx="365760" cy="3657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59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289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Processing Scripts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051560" y="15361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Python/TCL scripts for meshing automation, boundary conditions, and result extraction in HyperMesh, ANSA, or LS-PrePost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57200" y="2148840"/>
            <a:ext cx="3931920" cy="777240"/>
          </a:xfrm>
          <a:prstGeom prst="rect">
            <a:avLst>
              <a:gd name="adj" fmla="val 9412"/>
            </a:avLst>
          </a:prstGeom>
          <a:solidFill>
            <a:srgbClr val="E8FAF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54580"/>
            <a:ext cx="365760" cy="36576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003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Input Deck Review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1051560" y="24505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LS-DYNA, Nastran, or Abaqus input deck — AI identifies keyword errors, missing contacts, or unit inconsistencies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457200" y="3063240"/>
            <a:ext cx="3931920" cy="777240"/>
          </a:xfrm>
          <a:prstGeom prst="rect">
            <a:avLst>
              <a:gd name="adj" fmla="val 9412"/>
            </a:avLst>
          </a:prstGeom>
          <a:solidFill>
            <a:srgbClr val="FFF9E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68980"/>
            <a:ext cx="365760" cy="36576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1470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156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Report Drafting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1051560" y="3364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 vs. simulation correlation reports with structure, metrics, deviation analysis, and improvement recommendations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4754880" y="1234440"/>
            <a:ext cx="3931920" cy="777240"/>
          </a:xfrm>
          <a:prstGeom prst="rect">
            <a:avLst>
              <a:gd name="adj" fmla="val 9412"/>
            </a:avLst>
          </a:prstGeom>
          <a:solidFill>
            <a:srgbClr val="F3EEFF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440180"/>
            <a:ext cx="365760" cy="36576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148590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49240" y="1289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Card Generation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5349240" y="15361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material behavior → AI drafts MAT keywords for LS-DYNA (*MAT_024, *MAT_058) or Nastran MAT cards</a:t>
            </a:r>
            <a:endParaRPr lang="en-US" sz="950" dirty="0"/>
          </a:p>
        </p:txBody>
      </p:sp>
      <p:sp>
        <p:nvSpPr>
          <p:cNvPr id="25" name="Shape 15"/>
          <p:cNvSpPr/>
          <p:nvPr/>
        </p:nvSpPr>
        <p:spPr>
          <a:xfrm>
            <a:off x="4754880" y="2148840"/>
            <a:ext cx="3931920" cy="777240"/>
          </a:xfrm>
          <a:prstGeom prst="rect">
            <a:avLst>
              <a:gd name="adj" fmla="val 9412"/>
            </a:avLst>
          </a:prstGeom>
          <a:solidFill>
            <a:srgbClr val="FFF0F5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354580"/>
            <a:ext cx="365760" cy="36576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400300"/>
            <a:ext cx="274320" cy="27432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4924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Interpretation Help</a:t>
            </a:r>
            <a:endParaRPr lang="en-US" sz="1150" dirty="0"/>
          </a:p>
        </p:txBody>
      </p:sp>
      <p:sp>
        <p:nvSpPr>
          <p:cNvPr id="29" name="Text 17"/>
          <p:cNvSpPr/>
          <p:nvPr/>
        </p:nvSpPr>
        <p:spPr>
          <a:xfrm>
            <a:off x="5349240" y="24505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stress/strain descriptions → Get failure mode explanations, stress concentration causes, and design improvements</a:t>
            </a:r>
            <a:endParaRPr lang="en-US" sz="950" dirty="0"/>
          </a:p>
        </p:txBody>
      </p:sp>
      <p:sp>
        <p:nvSpPr>
          <p:cNvPr id="30" name="Shape 18"/>
          <p:cNvSpPr/>
          <p:nvPr/>
        </p:nvSpPr>
        <p:spPr>
          <a:xfrm>
            <a:off x="4754880" y="3063240"/>
            <a:ext cx="3931920" cy="777240"/>
          </a:xfrm>
          <a:prstGeom prst="rect">
            <a:avLst>
              <a:gd name="adj" fmla="val 9412"/>
            </a:avLst>
          </a:prstGeom>
          <a:solidFill>
            <a:srgbClr val="E6FFFE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268980"/>
            <a:ext cx="365760" cy="365760"/>
          </a:xfrm>
          <a:prstGeom prst="rect">
            <a:avLst/>
          </a:prstGeom>
        </p:spPr>
      </p:pic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314700"/>
            <a:ext cx="274320" cy="27432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34924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&amp; Optimization Setup</a:t>
            </a:r>
            <a:endParaRPr lang="en-US" sz="1150" dirty="0"/>
          </a:p>
        </p:txBody>
      </p:sp>
      <p:sp>
        <p:nvSpPr>
          <p:cNvPr id="34" name="Text 20"/>
          <p:cNvSpPr/>
          <p:nvPr/>
        </p:nvSpPr>
        <p:spPr>
          <a:xfrm>
            <a:off x="5349240" y="3364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experiments: parameter ranges, sampling strategies, response surface methodology guidance for optimization</a:t>
            </a:r>
            <a:endParaRPr lang="en-US" sz="950" dirty="0"/>
          </a:p>
        </p:txBody>
      </p:sp>
      <p:sp>
        <p:nvSpPr>
          <p:cNvPr id="35" name="Shape 21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36" name="Text 2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Pro Tip: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simulation setup in plain text — AI helps debug solver errors without seeing proprietary models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TEAM • READY-TO-USE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Prompt Templates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91640"/>
          </a:xfrm>
          <a:prstGeom prst="rect">
            <a:avLst>
              <a:gd name="adj" fmla="val 3243"/>
            </a:avLst>
          </a:prstGeom>
          <a:solidFill>
            <a:srgbClr val="F0FF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169164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30759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13075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Solver Error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" y="1581912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LS-DYNA R14 crash simulation terminates at t=15ms with 'negative volume in element 34521'. The part is a B-pillar with shell elements (ELFORM=16), min element size 3mm. Material is *MAT_024 (DP600). What causes this and how do I fix it?"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1234440"/>
            <a:ext cx="3931920" cy="1691640"/>
          </a:xfrm>
          <a:prstGeom prst="rect">
            <a:avLst>
              <a:gd name="adj" fmla="val 3243"/>
            </a:avLst>
          </a:prstGeom>
          <a:solidFill>
            <a:srgbClr val="F0F0FF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1234440"/>
            <a:ext cx="54864" cy="169164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30759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19472" y="13075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Meshing Script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19472" y="1581912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Python script for HyperMesh that: 1) Imports STEP file, 2) Creates component collectors by part name, 3) Applies 2D automesh target 5mm, 4) Checks element quality (min angle &gt;30°, aspect ratio &lt;5), 5) Exports as LS-DYNA keyword file."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3108960"/>
            <a:ext cx="3931920" cy="1143000"/>
          </a:xfrm>
          <a:prstGeom prst="rect">
            <a:avLst>
              <a:gd name="adj" fmla="val 4800"/>
            </a:avLst>
          </a:prstGeom>
          <a:solidFill>
            <a:srgbClr val="FFF8E1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" y="3108960"/>
            <a:ext cx="54864" cy="1143000"/>
          </a:xfrm>
          <a:prstGeom prst="rect">
            <a:avLst/>
          </a:prstGeom>
          <a:solidFill>
            <a:srgbClr val="F57F1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18211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" y="31821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Correlation Report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1792" y="345643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"Draft a test-simulation correlation report for frontal NCAP. Test peak: 42g at 35ms. Sim: 39g at 33ms. Intrusion test: 85mm, sim: 78mm. Include methodology, comparison, root cause, improvement plan."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754880" y="3108960"/>
            <a:ext cx="3931920" cy="1143000"/>
          </a:xfrm>
          <a:prstGeom prst="rect">
            <a:avLst>
              <a:gd name="adj" fmla="val 4800"/>
            </a:avLst>
          </a:prstGeom>
          <a:solidFill>
            <a:srgbClr val="F3EEFF"/>
          </a:solidFill>
          <a:ln/>
        </p:spPr>
      </p:sp>
      <p:sp>
        <p:nvSpPr>
          <p:cNvPr id="21" name="Shape 16"/>
          <p:cNvSpPr/>
          <p:nvPr/>
        </p:nvSpPr>
        <p:spPr>
          <a:xfrm>
            <a:off x="4754880" y="3108960"/>
            <a:ext cx="54864" cy="1143000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18211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19472" y="31821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Card Help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919472" y="345643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LS-DYNA *MAT_058 card for CFRP composite. Fiber 0/90, E1=130 GPa, E2=10 GPa, strength 1500 MPa. Include failure criteria (DFAILM, DFAILS) and strain rate effects. Explain each parameter."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TEAM • VEHICLE DESIGN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Design Workflows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777240"/>
          </a:xfrm>
          <a:prstGeom prst="rect">
            <a:avLst>
              <a:gd name="adj" fmla="val 9412"/>
            </a:avLst>
          </a:prstGeom>
          <a:solidFill>
            <a:srgbClr val="EBF5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0180"/>
            <a:ext cx="365760" cy="3657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59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289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 Documentation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051560" y="15361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DR checklists, review minutes, and action items. Summarize design changes for gate reviews and cross-functional sign-offs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57200" y="2148840"/>
            <a:ext cx="3931920" cy="777240"/>
          </a:xfrm>
          <a:prstGeom prst="rect">
            <a:avLst>
              <a:gd name="adj" fmla="val 9412"/>
            </a:avLst>
          </a:prstGeom>
          <a:solidFill>
            <a:srgbClr val="E8FAF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54580"/>
            <a:ext cx="365760" cy="36576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003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Analysis &amp; GD&amp;T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1051560" y="24505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GD&amp;T symbols, tolerance stack-up concepts, draft tolerance analysis reports. Datum references and MMC/LMC modifiers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457200" y="3063240"/>
            <a:ext cx="3931920" cy="777240"/>
          </a:xfrm>
          <a:prstGeom prst="rect">
            <a:avLst>
              <a:gd name="adj" fmla="val 9412"/>
            </a:avLst>
          </a:prstGeom>
          <a:solidFill>
            <a:srgbClr val="FFF9E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68980"/>
            <a:ext cx="365760" cy="36576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1470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156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&amp; Change Management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1051560" y="3364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ECRs, summarize BOM differences between versions, and generate impact analysis templates for design changes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4754880" y="1234440"/>
            <a:ext cx="3931920" cy="777240"/>
          </a:xfrm>
          <a:prstGeom prst="rect">
            <a:avLst>
              <a:gd name="adj" fmla="val 9412"/>
            </a:avLst>
          </a:prstGeom>
          <a:solidFill>
            <a:srgbClr val="F3EEFF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440180"/>
            <a:ext cx="365760" cy="36576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148590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49240" y="1289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Spec Clarification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5349240" y="15361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technical queries about component specs, material certifications, drawing clarifications. Bridge design intent and supplier language</a:t>
            </a:r>
            <a:endParaRPr lang="en-US" sz="950" dirty="0"/>
          </a:p>
        </p:txBody>
      </p:sp>
      <p:sp>
        <p:nvSpPr>
          <p:cNvPr id="25" name="Shape 15"/>
          <p:cNvSpPr/>
          <p:nvPr/>
        </p:nvSpPr>
        <p:spPr>
          <a:xfrm>
            <a:off x="4754880" y="2148840"/>
            <a:ext cx="3931920" cy="777240"/>
          </a:xfrm>
          <a:prstGeom prst="rect">
            <a:avLst>
              <a:gd name="adj" fmla="val 9412"/>
            </a:avLst>
          </a:prstGeom>
          <a:solidFill>
            <a:srgbClr val="FFF0F5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354580"/>
            <a:ext cx="365760" cy="36576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400300"/>
            <a:ext cx="274320" cy="27432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4924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DFMEA Assistance</a:t>
            </a:r>
            <a:endParaRPr lang="en-US" sz="1150" dirty="0"/>
          </a:p>
        </p:txBody>
      </p:sp>
      <p:sp>
        <p:nvSpPr>
          <p:cNvPr id="29" name="Text 17"/>
          <p:cNvSpPr/>
          <p:nvPr/>
        </p:nvSpPr>
        <p:spPr>
          <a:xfrm>
            <a:off x="5349240" y="24505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failure modes, effects, and causes for components. Suggest detection methods and recommended actions from function descriptions</a:t>
            </a:r>
            <a:endParaRPr lang="en-US" sz="950" dirty="0"/>
          </a:p>
        </p:txBody>
      </p:sp>
      <p:sp>
        <p:nvSpPr>
          <p:cNvPr id="30" name="Shape 18"/>
          <p:cNvSpPr/>
          <p:nvPr/>
        </p:nvSpPr>
        <p:spPr>
          <a:xfrm>
            <a:off x="4754880" y="3063240"/>
            <a:ext cx="3931920" cy="777240"/>
          </a:xfrm>
          <a:prstGeom prst="rect">
            <a:avLst>
              <a:gd name="adj" fmla="val 9412"/>
            </a:avLst>
          </a:prstGeom>
          <a:solidFill>
            <a:srgbClr val="E6FFFE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268980"/>
            <a:ext cx="365760" cy="365760"/>
          </a:xfrm>
          <a:prstGeom prst="rect">
            <a:avLst/>
          </a:prstGeom>
        </p:spPr>
      </p:pic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314700"/>
            <a:ext cx="274320" cy="27432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34924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Scripting &amp; Automation</a:t>
            </a:r>
            <a:endParaRPr lang="en-US" sz="1150" dirty="0"/>
          </a:p>
        </p:txBody>
      </p:sp>
      <p:sp>
        <p:nvSpPr>
          <p:cNvPr id="34" name="Text 20"/>
          <p:cNvSpPr/>
          <p:nvPr/>
        </p:nvSpPr>
        <p:spPr>
          <a:xfrm>
            <a:off x="5349240" y="3364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CATIA macros (VBA/CATScript), NX journaling scripts, or Creo Toolkit code for parameter updates and batch exports</a:t>
            </a:r>
            <a:endParaRPr lang="en-US" sz="950" dirty="0"/>
          </a:p>
        </p:txBody>
      </p:sp>
      <p:sp>
        <p:nvSpPr>
          <p:cNvPr id="35" name="Shape 21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36" name="Text 2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 Tip: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draft DFMEA content — your experience validates severity, occurrence, and detection ratings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HOMOLOGATION TEAM • REGULATORY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Homologation Workflows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777240"/>
          </a:xfrm>
          <a:prstGeom prst="rect">
            <a:avLst>
              <a:gd name="adj" fmla="val 9412"/>
            </a:avLst>
          </a:prstGeom>
          <a:solidFill>
            <a:srgbClr val="EBF5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0180"/>
            <a:ext cx="365760" cy="3657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59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289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Interpretation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051560" y="15361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complex ECE/FMVSS/GB clauses in plain language. Compare requirements across markets (EU, US, Japan, India, China)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57200" y="2148840"/>
            <a:ext cx="3931920" cy="777240"/>
          </a:xfrm>
          <a:prstGeom prst="rect">
            <a:avLst>
              <a:gd name="adj" fmla="val 9412"/>
            </a:avLst>
          </a:prstGeom>
          <a:solidFill>
            <a:srgbClr val="E8FAF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54580"/>
            <a:ext cx="365760" cy="36576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003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 Drafting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1051560" y="24505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type approval report structures, fill boilerplate sections, create compliance matrices mapping regs to test results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457200" y="3063240"/>
            <a:ext cx="3931920" cy="777240"/>
          </a:xfrm>
          <a:prstGeom prst="rect">
            <a:avLst>
              <a:gd name="adj" fmla="val 9412"/>
            </a:avLst>
          </a:prstGeom>
          <a:solidFill>
            <a:srgbClr val="FFF9E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68980"/>
            <a:ext cx="365760" cy="36576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1470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156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Change Tracking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1051560" y="3364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changes between regulation versions (e.g., R155 rev2 vs rev3), identify impacted systems, draft gap analysis docs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4754880" y="1234440"/>
            <a:ext cx="3931920" cy="777240"/>
          </a:xfrm>
          <a:prstGeom prst="rect">
            <a:avLst>
              <a:gd name="adj" fmla="val 9412"/>
            </a:avLst>
          </a:prstGeom>
          <a:solidFill>
            <a:srgbClr val="F3EEFF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440180"/>
            <a:ext cx="365760" cy="36576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148590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49240" y="1289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(Conformity of Production)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5349240" y="15361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CoP audit prep documents, sampling plans, and statistical analysis templates for production conformity verification</a:t>
            </a:r>
            <a:endParaRPr lang="en-US" sz="950" dirty="0"/>
          </a:p>
        </p:txBody>
      </p:sp>
      <p:sp>
        <p:nvSpPr>
          <p:cNvPr id="25" name="Shape 15"/>
          <p:cNvSpPr/>
          <p:nvPr/>
        </p:nvSpPr>
        <p:spPr>
          <a:xfrm>
            <a:off x="4754880" y="2148840"/>
            <a:ext cx="3931920" cy="777240"/>
          </a:xfrm>
          <a:prstGeom prst="rect">
            <a:avLst>
              <a:gd name="adj" fmla="val 9412"/>
            </a:avLst>
          </a:prstGeom>
          <a:solidFill>
            <a:srgbClr val="FFF0F5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354580"/>
            <a:ext cx="365760" cy="36576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400300"/>
            <a:ext cx="274320" cy="27432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4924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Service Communication</a:t>
            </a:r>
            <a:endParaRPr lang="en-US" sz="1150" dirty="0"/>
          </a:p>
        </p:txBody>
      </p:sp>
      <p:sp>
        <p:nvSpPr>
          <p:cNvPr id="29" name="Text 17"/>
          <p:cNvSpPr/>
          <p:nvPr/>
        </p:nvSpPr>
        <p:spPr>
          <a:xfrm>
            <a:off x="5349240" y="24505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submissions to type approval authorities. Cover letters, clarification responses, and exemption requests</a:t>
            </a:r>
            <a:endParaRPr lang="en-US" sz="950" dirty="0"/>
          </a:p>
        </p:txBody>
      </p:sp>
      <p:sp>
        <p:nvSpPr>
          <p:cNvPr id="30" name="Shape 18"/>
          <p:cNvSpPr/>
          <p:nvPr/>
        </p:nvSpPr>
        <p:spPr>
          <a:xfrm>
            <a:off x="4754880" y="3063240"/>
            <a:ext cx="3931920" cy="777240"/>
          </a:xfrm>
          <a:prstGeom prst="rect">
            <a:avLst>
              <a:gd name="adj" fmla="val 9412"/>
            </a:avLst>
          </a:prstGeom>
          <a:solidFill>
            <a:srgbClr val="E6FFFE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268980"/>
            <a:ext cx="365760" cy="365760"/>
          </a:xfrm>
          <a:prstGeom prst="rect">
            <a:avLst/>
          </a:prstGeom>
        </p:spPr>
      </p:pic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314700"/>
            <a:ext cx="274320" cy="27432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34924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Multi-Market Compliance Matrix</a:t>
            </a:r>
            <a:endParaRPr lang="en-US" sz="1150" dirty="0"/>
          </a:p>
        </p:txBody>
      </p:sp>
      <p:sp>
        <p:nvSpPr>
          <p:cNvPr id="34" name="Text 20"/>
          <p:cNvSpPr/>
          <p:nvPr/>
        </p:nvSpPr>
        <p:spPr>
          <a:xfrm>
            <a:off x="5349240" y="3364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comparison tables across regulations (lighting, emissions, safety) for variant management and platform strategies</a:t>
            </a:r>
            <a:endParaRPr lang="en-US" sz="950" dirty="0"/>
          </a:p>
        </p:txBody>
      </p:sp>
      <p:sp>
        <p:nvSpPr>
          <p:cNvPr id="35" name="Shape 21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36" name="Text 2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Homologation Pro Tip: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knows public regulation text — compare ECE R48 vs FMVSS 108 requirements, then verify against official gazette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TEAM • AUTONOMOUS DRIVING ASSISTANCE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ADAS Development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777240"/>
          </a:xfrm>
          <a:prstGeom prst="rect">
            <a:avLst>
              <a:gd name="adj" fmla="val 9412"/>
            </a:avLst>
          </a:prstGeom>
          <a:solidFill>
            <a:srgbClr val="EBF5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0180"/>
            <a:ext cx="365760" cy="3657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59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289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Generation for Testing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051560" y="15361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OpenSCENARIO test scenarios. Describe edge cases for AEB, LKA, ACC — AI suggests parameter variations and corner cases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57200" y="2148840"/>
            <a:ext cx="3931920" cy="777240"/>
          </a:xfrm>
          <a:prstGeom prst="rect">
            <a:avLst>
              <a:gd name="adj" fmla="val 9412"/>
            </a:avLst>
          </a:prstGeom>
          <a:solidFill>
            <a:srgbClr val="E8FAF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54580"/>
            <a:ext cx="365760" cy="36576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003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Debugging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1051560" y="24505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fusion pipeline issues (camera+radar+lidar). Debug association logic, coordinate transforms, and tracking filter tuning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457200" y="3063240"/>
            <a:ext cx="3931920" cy="777240"/>
          </a:xfrm>
          <a:prstGeom prst="rect">
            <a:avLst>
              <a:gd name="adj" fmla="val 9412"/>
            </a:avLst>
          </a:prstGeom>
          <a:solidFill>
            <a:srgbClr val="FFF9E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68980"/>
            <a:ext cx="365760" cy="36576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1470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156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SOTIF &amp; Safety (ISO 21448)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1051560" y="3364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SOTIF analysis templates, identify triggering conditions and functional insufficiencies, create V&amp;V strategy documents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4754880" y="1234440"/>
            <a:ext cx="3931920" cy="777240"/>
          </a:xfrm>
          <a:prstGeom prst="rect">
            <a:avLst>
              <a:gd name="adj" fmla="val 9412"/>
            </a:avLst>
          </a:prstGeom>
          <a:solidFill>
            <a:srgbClr val="F3EEFF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440180"/>
            <a:ext cx="365760" cy="36576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148590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49240" y="1289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 &amp; Analysis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5349240" y="15361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Python scripts for ADAS KPIs: TTC, time headway, lateral offset, false positive/negative rates from logged data</a:t>
            </a:r>
            <a:endParaRPr lang="en-US" sz="950" dirty="0"/>
          </a:p>
        </p:txBody>
      </p:sp>
      <p:sp>
        <p:nvSpPr>
          <p:cNvPr id="25" name="Shape 15"/>
          <p:cNvSpPr/>
          <p:nvPr/>
        </p:nvSpPr>
        <p:spPr>
          <a:xfrm>
            <a:off x="4754880" y="2148840"/>
            <a:ext cx="3931920" cy="777240"/>
          </a:xfrm>
          <a:prstGeom prst="rect">
            <a:avLst>
              <a:gd name="adj" fmla="val 9412"/>
            </a:avLst>
          </a:prstGeom>
          <a:solidFill>
            <a:srgbClr val="FFF0F5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354580"/>
            <a:ext cx="365760" cy="36576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400300"/>
            <a:ext cx="274320" cy="27432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4924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 NCAP Protocol Understanding</a:t>
            </a:r>
            <a:endParaRPr lang="en-US" sz="1150" dirty="0"/>
          </a:p>
        </p:txBody>
      </p:sp>
      <p:sp>
        <p:nvSpPr>
          <p:cNvPr id="29" name="Text 17"/>
          <p:cNvSpPr/>
          <p:nvPr/>
        </p:nvSpPr>
        <p:spPr>
          <a:xfrm>
            <a:off x="5349240" y="24505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Euro NCAP 2026 test protocols, scoring mechanisms, and color coding. Compare protocol changes between years</a:t>
            </a:r>
            <a:endParaRPr lang="en-US" sz="950" dirty="0"/>
          </a:p>
        </p:txBody>
      </p:sp>
      <p:sp>
        <p:nvSpPr>
          <p:cNvPr id="30" name="Shape 18"/>
          <p:cNvSpPr/>
          <p:nvPr/>
        </p:nvSpPr>
        <p:spPr>
          <a:xfrm>
            <a:off x="4754880" y="3063240"/>
            <a:ext cx="3931920" cy="777240"/>
          </a:xfrm>
          <a:prstGeom prst="rect">
            <a:avLst>
              <a:gd name="adj" fmla="val 9412"/>
            </a:avLst>
          </a:prstGeom>
          <a:solidFill>
            <a:srgbClr val="E6FFFE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268980"/>
            <a:ext cx="365760" cy="365760"/>
          </a:xfrm>
          <a:prstGeom prst="rect">
            <a:avLst/>
          </a:prstGeom>
        </p:spPr>
      </p:pic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314700"/>
            <a:ext cx="274320" cy="27432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34924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Labeling</a:t>
            </a:r>
            <a:endParaRPr lang="en-US" sz="1150" dirty="0"/>
          </a:p>
        </p:txBody>
      </p:sp>
      <p:sp>
        <p:nvSpPr>
          <p:cNvPr id="34" name="Text 20"/>
          <p:cNvSpPr/>
          <p:nvPr/>
        </p:nvSpPr>
        <p:spPr>
          <a:xfrm>
            <a:off x="5349240" y="3364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Python for processing driving logs: parsing ROS bags, extracting CAN signals, converting labels (COCO, KITTI, nuScenes)</a:t>
            </a:r>
            <a:endParaRPr lang="en-US" sz="950" dirty="0"/>
          </a:p>
        </p:txBody>
      </p:sp>
      <p:sp>
        <p:nvSpPr>
          <p:cNvPr id="35" name="Shape 21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36" name="Text 2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Pro Tip: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excels at edge-case scenarios — describe the ODD and let AI suggest adversarial conditions you might miss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• EMBEDDED &amp; APPLICATION SW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Software Engineering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777240"/>
          </a:xfrm>
          <a:prstGeom prst="rect">
            <a:avLst>
              <a:gd name="adj" fmla="val 9412"/>
            </a:avLst>
          </a:prstGeom>
          <a:solidFill>
            <a:srgbClr val="EBF5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0180"/>
            <a:ext cx="365760" cy="3657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59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289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&amp; Review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051560" y="15361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C/C++ embedded code, Python test scripts, and shell automation. Reviews for memory leaks, buffer overflows, CERT C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57200" y="2148840"/>
            <a:ext cx="3931920" cy="777240"/>
          </a:xfrm>
          <a:prstGeom prst="rect">
            <a:avLst>
              <a:gd name="adj" fmla="val 9412"/>
            </a:avLst>
          </a:prstGeom>
          <a:solidFill>
            <a:srgbClr val="E8FAF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54580"/>
            <a:ext cx="365760" cy="36576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003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ASPICE Process Documentation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1051560" y="24505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work products for SWE.1–SWE.6: requirements, architecture, design, unit tests, integration test plans, traceability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457200" y="3063240"/>
            <a:ext cx="3931920" cy="777240"/>
          </a:xfrm>
          <a:prstGeom prst="rect">
            <a:avLst>
              <a:gd name="adj" fmla="val 9412"/>
            </a:avLst>
          </a:prstGeom>
          <a:solidFill>
            <a:srgbClr val="FFF9E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68980"/>
            <a:ext cx="365760" cy="36576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1470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156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DevOps Automation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1051560" y="3364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Jenkins pipelines, Docker configs, GitLab CI YAML for embedded builds. Debug build errors and linker script issues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4754880" y="1234440"/>
            <a:ext cx="3931920" cy="777240"/>
          </a:xfrm>
          <a:prstGeom prst="rect">
            <a:avLst>
              <a:gd name="adj" fmla="val 9412"/>
            </a:avLst>
          </a:prstGeom>
          <a:solidFill>
            <a:srgbClr val="F3EEFF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440180"/>
            <a:ext cx="365760" cy="36576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148590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49240" y="1289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5349240" y="15361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EARS-pattern requirements, check ambiguity/testability, generate review checklists, and draft DOORS import formats</a:t>
            </a:r>
            <a:endParaRPr lang="en-US" sz="950" dirty="0"/>
          </a:p>
        </p:txBody>
      </p:sp>
      <p:sp>
        <p:nvSpPr>
          <p:cNvPr id="25" name="Shape 15"/>
          <p:cNvSpPr/>
          <p:nvPr/>
        </p:nvSpPr>
        <p:spPr>
          <a:xfrm>
            <a:off x="4754880" y="2148840"/>
            <a:ext cx="3931920" cy="777240"/>
          </a:xfrm>
          <a:prstGeom prst="rect">
            <a:avLst>
              <a:gd name="adj" fmla="val 9412"/>
            </a:avLst>
          </a:prstGeom>
          <a:solidFill>
            <a:srgbClr val="FFF0F5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354580"/>
            <a:ext cx="365760" cy="36576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400300"/>
            <a:ext cx="274320" cy="27432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4924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Implementation (UDS)</a:t>
            </a:r>
            <a:endParaRPr lang="en-US" sz="1150" dirty="0"/>
          </a:p>
        </p:txBody>
      </p:sp>
      <p:sp>
        <p:nvSpPr>
          <p:cNvPr id="29" name="Text 17"/>
          <p:cNvSpPr/>
          <p:nvPr/>
        </p:nvSpPr>
        <p:spPr>
          <a:xfrm>
            <a:off x="5349240" y="24505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CDD content, DTC definitions, UDS service implementations ($22, $2E, $31). ISO 14229 services and NRC handling</a:t>
            </a:r>
            <a:endParaRPr lang="en-US" sz="950" dirty="0"/>
          </a:p>
        </p:txBody>
      </p:sp>
      <p:sp>
        <p:nvSpPr>
          <p:cNvPr id="30" name="Shape 18"/>
          <p:cNvSpPr/>
          <p:nvPr/>
        </p:nvSpPr>
        <p:spPr>
          <a:xfrm>
            <a:off x="4754880" y="3063240"/>
            <a:ext cx="3931920" cy="777240"/>
          </a:xfrm>
          <a:prstGeom prst="rect">
            <a:avLst>
              <a:gd name="adj" fmla="val 9412"/>
            </a:avLst>
          </a:prstGeom>
          <a:solidFill>
            <a:srgbClr val="E6FFFE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268980"/>
            <a:ext cx="365760" cy="365760"/>
          </a:xfrm>
          <a:prstGeom prst="rect">
            <a:avLst/>
          </a:prstGeom>
        </p:spPr>
      </p:pic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314700"/>
            <a:ext cx="274320" cy="27432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34924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Test Scripts</a:t>
            </a:r>
            <a:endParaRPr lang="en-US" sz="1150" dirty="0"/>
          </a:p>
        </p:txBody>
      </p:sp>
      <p:sp>
        <p:nvSpPr>
          <p:cNvPr id="34" name="Text 20"/>
          <p:cNvSpPr/>
          <p:nvPr/>
        </p:nvSpPr>
        <p:spPr>
          <a:xfrm>
            <a:off x="5349240" y="3364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CAN/LIN/Ethernet issues, generate CAPL scripts for CANoe, write protocol conformance test specifications</a:t>
            </a:r>
            <a:endParaRPr lang="en-US" sz="950" dirty="0"/>
          </a:p>
        </p:txBody>
      </p:sp>
      <p:sp>
        <p:nvSpPr>
          <p:cNvPr id="35" name="Shape 21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36" name="Text 2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Dev Pro Tip: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in VS Code auto-completes embedded C — use it alongside M365 Copilot for documentation tasks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TEAM • ENGINEERING IT &amp; TOOL SUPPORT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Tool Administration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777240"/>
          </a:xfrm>
          <a:prstGeom prst="rect">
            <a:avLst>
              <a:gd name="adj" fmla="val 9412"/>
            </a:avLst>
          </a:prstGeom>
          <a:solidFill>
            <a:srgbClr val="EBF5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0180"/>
            <a:ext cx="365760" cy="3657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59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289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Configuration &amp; Scripting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051560" y="15361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config scripts for DOORS, Polarion, Jira, Teamcenter. Automate provisioning, workflow customization, report generation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57200" y="2148840"/>
            <a:ext cx="3931920" cy="777240"/>
          </a:xfrm>
          <a:prstGeom prst="rect">
            <a:avLst>
              <a:gd name="adj" fmla="val 9412"/>
            </a:avLst>
          </a:prstGeom>
          <a:solidFill>
            <a:srgbClr val="E8FAF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54580"/>
            <a:ext cx="365760" cy="36576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003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&amp; Infrastructure Mgmt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1051560" y="24505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license usage analysis, capacity planning docs, and tool ROI assessments. Scripts to monitor FlexLM/RLM license servers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457200" y="3063240"/>
            <a:ext cx="3931920" cy="777240"/>
          </a:xfrm>
          <a:prstGeom prst="rect">
            <a:avLst>
              <a:gd name="adj" fmla="val 9412"/>
            </a:avLst>
          </a:prstGeom>
          <a:solidFill>
            <a:srgbClr val="FFF9E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68980"/>
            <a:ext cx="365760" cy="36576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1470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156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API Development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1051560" y="3364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REST API integration code (Jira↔Polarion, DOORS↔Excel). Write data migration scripts and ETL pipeline configs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4754880" y="1234440"/>
            <a:ext cx="3931920" cy="777240"/>
          </a:xfrm>
          <a:prstGeom prst="rect">
            <a:avLst>
              <a:gd name="adj" fmla="val 9412"/>
            </a:avLst>
          </a:prstGeom>
          <a:solidFill>
            <a:srgbClr val="F3EEFF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440180"/>
            <a:ext cx="365760" cy="36576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148590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49240" y="1289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Training &amp; Documentation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5349240" y="15361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tool user guides, quick-start tutorials, FAQ pages, and training presentations for common engineering tool tasks</a:t>
            </a:r>
            <a:endParaRPr lang="en-US" sz="950" dirty="0"/>
          </a:p>
        </p:txBody>
      </p:sp>
      <p:sp>
        <p:nvSpPr>
          <p:cNvPr id="25" name="Shape 15"/>
          <p:cNvSpPr/>
          <p:nvPr/>
        </p:nvSpPr>
        <p:spPr>
          <a:xfrm>
            <a:off x="4754880" y="2148840"/>
            <a:ext cx="3931920" cy="777240"/>
          </a:xfrm>
          <a:prstGeom prst="rect">
            <a:avLst>
              <a:gd name="adj" fmla="val 9412"/>
            </a:avLst>
          </a:prstGeom>
          <a:solidFill>
            <a:srgbClr val="FFF0F5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354580"/>
            <a:ext cx="365760" cy="36576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400300"/>
            <a:ext cx="274320" cy="27432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4924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&amp; Support</a:t>
            </a:r>
            <a:endParaRPr lang="en-US" sz="1150" dirty="0"/>
          </a:p>
        </p:txBody>
      </p:sp>
      <p:sp>
        <p:nvSpPr>
          <p:cNvPr id="29" name="Text 17"/>
          <p:cNvSpPr/>
          <p:nvPr/>
        </p:nvSpPr>
        <p:spPr>
          <a:xfrm>
            <a:off x="5349240" y="24505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diagnostic scripts for tool issues, automate log collection, draft known-issue databases. Parse error logs and fix</a:t>
            </a:r>
            <a:endParaRPr lang="en-US" sz="950" dirty="0"/>
          </a:p>
        </p:txBody>
      </p:sp>
      <p:sp>
        <p:nvSpPr>
          <p:cNvPr id="30" name="Shape 18"/>
          <p:cNvSpPr/>
          <p:nvPr/>
        </p:nvSpPr>
        <p:spPr>
          <a:xfrm>
            <a:off x="4754880" y="3063240"/>
            <a:ext cx="3931920" cy="777240"/>
          </a:xfrm>
          <a:prstGeom prst="rect">
            <a:avLst>
              <a:gd name="adj" fmla="val 9412"/>
            </a:avLst>
          </a:prstGeom>
          <a:solidFill>
            <a:srgbClr val="E6FFFE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268980"/>
            <a:ext cx="365760" cy="365760"/>
          </a:xfrm>
          <a:prstGeom prst="rect">
            <a:avLst/>
          </a:prstGeom>
        </p:spPr>
      </p:pic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314700"/>
            <a:ext cx="274320" cy="27432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34924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(RPA)</a:t>
            </a:r>
            <a:endParaRPr lang="en-US" sz="1150" dirty="0"/>
          </a:p>
        </p:txBody>
      </p:sp>
      <p:sp>
        <p:nvSpPr>
          <p:cNvPr id="34" name="Text 20"/>
          <p:cNvSpPr/>
          <p:nvPr/>
        </p:nvSpPr>
        <p:spPr>
          <a:xfrm>
            <a:off x="5349240" y="336499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Power Automate flows, write PowerShell for batch operations, create macros for repetitive data entry across tools</a:t>
            </a:r>
            <a:endParaRPr lang="en-US" sz="950" dirty="0"/>
          </a:p>
        </p:txBody>
      </p:sp>
      <p:sp>
        <p:nvSpPr>
          <p:cNvPr id="35" name="Shape 21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36" name="Text 2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Pro Tip: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generate REST API calls — describe the tool and desired action, AI writes the Python/PowerShell code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• GITHUB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Copilot: Your Coding Co-Pilot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170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GitHub Copilot Does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536192"/>
            <a:ext cx="3931920" cy="402336"/>
          </a:xfrm>
          <a:prstGeom prst="rect">
            <a:avLst>
              <a:gd name="adj" fmla="val 9091"/>
            </a:avLst>
          </a:prstGeom>
          <a:solidFill>
            <a:srgbClr val="EBF5F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53619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code completion as you type in VS Code, Visual Studio, JetBrains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029968"/>
            <a:ext cx="3931920" cy="402336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02996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entire functions from comments or function signatures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523744"/>
            <a:ext cx="3931920" cy="402336"/>
          </a:xfrm>
          <a:prstGeom prst="rect">
            <a:avLst>
              <a:gd name="adj" fmla="val 9091"/>
            </a:avLst>
          </a:prstGeom>
          <a:solidFill>
            <a:srgbClr val="EBF5FF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52374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unit tests, docstrings, and boilerplate automatically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017520"/>
            <a:ext cx="3931920" cy="402336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01752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Chat: ask questions about your codebase in natural language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511296"/>
            <a:ext cx="3931920" cy="402336"/>
          </a:xfrm>
          <a:prstGeom prst="rect">
            <a:avLst>
              <a:gd name="adj" fmla="val 9091"/>
            </a:avLst>
          </a:prstGeom>
          <a:solidFill>
            <a:srgbClr val="EBF5FF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51129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C, C++, Python, MATLAB, CAPL, Shell, YAML, and 20+ languages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70432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74920" y="1170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Engineering Use Cases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754880" y="1536192"/>
            <a:ext cx="3931920" cy="402336"/>
          </a:xfrm>
          <a:prstGeom prst="rect">
            <a:avLst>
              <a:gd name="adj" fmla="val 9091"/>
            </a:avLst>
          </a:prstGeom>
          <a:solidFill>
            <a:srgbClr val="F8F8FA"/>
          </a:solidFill>
          <a:ln/>
        </p:spPr>
      </p:sp>
      <p:sp>
        <p:nvSpPr>
          <p:cNvPr id="20" name="Shape 16"/>
          <p:cNvSpPr/>
          <p:nvPr/>
        </p:nvSpPr>
        <p:spPr>
          <a:xfrm>
            <a:off x="4892040" y="1673352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1" name="Text 17"/>
          <p:cNvSpPr/>
          <p:nvPr/>
        </p:nvSpPr>
        <p:spPr>
          <a:xfrm>
            <a:off x="5120640" y="153619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MISRA-aware code suggestions for ECU software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754880" y="2029968"/>
            <a:ext cx="3931920" cy="402336"/>
          </a:xfrm>
          <a:prstGeom prst="rect">
            <a:avLst>
              <a:gd name="adj" fmla="val 9091"/>
            </a:avLst>
          </a:prstGeom>
          <a:solidFill>
            <a:srgbClr val="F8F8FA"/>
          </a:solidFill>
          <a:ln/>
        </p:spPr>
      </p:sp>
      <p:sp>
        <p:nvSpPr>
          <p:cNvPr id="23" name="Shape 19"/>
          <p:cNvSpPr/>
          <p:nvPr/>
        </p:nvSpPr>
        <p:spPr>
          <a:xfrm>
            <a:off x="4892040" y="2167128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0"/>
          <p:cNvSpPr/>
          <p:nvPr/>
        </p:nvSpPr>
        <p:spPr>
          <a:xfrm>
            <a:off x="5120640" y="20299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CAPL Scripts: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Auto-complete CANoe test scripts from comments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54880" y="2523744"/>
            <a:ext cx="3931920" cy="402336"/>
          </a:xfrm>
          <a:prstGeom prst="rect">
            <a:avLst>
              <a:gd name="adj" fmla="val 9091"/>
            </a:avLst>
          </a:prstGeom>
          <a:solidFill>
            <a:srgbClr val="F8F8FA"/>
          </a:solidFill>
          <a:ln/>
        </p:spPr>
      </p:sp>
      <p:sp>
        <p:nvSpPr>
          <p:cNvPr id="26" name="Shape 22"/>
          <p:cNvSpPr/>
          <p:nvPr/>
        </p:nvSpPr>
        <p:spPr>
          <a:xfrm>
            <a:off x="4892040" y="2660904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7" name="Text 23"/>
          <p:cNvSpPr/>
          <p:nvPr/>
        </p:nvSpPr>
        <p:spPr>
          <a:xfrm>
            <a:off x="5120640" y="252374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Testing: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pytest fixtures &amp; HIL test automation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754880" y="3017520"/>
            <a:ext cx="3931920" cy="402336"/>
          </a:xfrm>
          <a:prstGeom prst="rect">
            <a:avLst>
              <a:gd name="adj" fmla="val 9091"/>
            </a:avLst>
          </a:prstGeom>
          <a:solidFill>
            <a:srgbClr val="F8F8FA"/>
          </a:solidFill>
          <a:ln/>
        </p:spPr>
      </p:sp>
      <p:sp>
        <p:nvSpPr>
          <p:cNvPr id="29" name="Shape 25"/>
          <p:cNvSpPr/>
          <p:nvPr/>
        </p:nvSpPr>
        <p:spPr>
          <a:xfrm>
            <a:off x="4892040" y="3154680"/>
            <a:ext cx="128016" cy="128016"/>
          </a:xfrm>
          <a:prstGeom prst="ellipse">
            <a:avLst/>
          </a:prstGeom>
          <a:solidFill>
            <a:srgbClr val="F57F17"/>
          </a:solidFill>
          <a:ln/>
        </p:spPr>
      </p:sp>
      <p:sp>
        <p:nvSpPr>
          <p:cNvPr id="30" name="Text 26"/>
          <p:cNvSpPr/>
          <p:nvPr/>
        </p:nvSpPr>
        <p:spPr>
          <a:xfrm>
            <a:off x="5120640" y="3017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YAML: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Jenkins/GitLab pipeline configurations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754880" y="3511296"/>
            <a:ext cx="3931920" cy="402336"/>
          </a:xfrm>
          <a:prstGeom prst="rect">
            <a:avLst>
              <a:gd name="adj" fmla="val 9091"/>
            </a:avLst>
          </a:prstGeom>
          <a:solidFill>
            <a:srgbClr val="F8F8FA"/>
          </a:solidFill>
          <a:ln/>
        </p:spPr>
      </p:sp>
      <p:sp>
        <p:nvSpPr>
          <p:cNvPr id="32" name="Shape 28"/>
          <p:cNvSpPr/>
          <p:nvPr/>
        </p:nvSpPr>
        <p:spPr>
          <a:xfrm>
            <a:off x="4892040" y="3648456"/>
            <a:ext cx="128016" cy="128016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3" name="Text 29"/>
          <p:cNvSpPr/>
          <p:nvPr/>
        </p:nvSpPr>
        <p:spPr>
          <a:xfrm>
            <a:off x="5120640" y="351129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ARXML Gen: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generate AUTOSAR description file patterns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35" name="Text 31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vs GitHub Copilot: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for docs &amp; communication. GitHub Copilot for actual coding. Both = maximum productivity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• ALL TEAMS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Prompts for Every Engineering Discipline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64008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 Debug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"My Nastran SOL 101 fails with FATAL: SINGULAR MATRIX. Model has RBE2/RBE3 elements. What causes this?"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D1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DFMEA Draft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"List potential failure modes for a fuel tank filler neck. Include effects, causes, severity (1-10), detection methods."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7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 Compare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"Compare ECE R13H and FMVSS 135 braking requirements. Table: parameter, ECE value, FMVSS value, key differences."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Scenarios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"Generate 10 edge-case AEB scenarios for urban intersection. Include pedestrian, occlusion, lighting variations."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 Dev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CAPL Script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"Write CAPL for CANoe: monitor CAN 0x100, check DLC=8, log if 'EngineSpeed' exceeds 6500 RPM."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"Write Python to read Jira issues labeled 'safety-critical' via REST API, export to Excel: key, summary, status."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Rule: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[brackets] with your specifics. Include version numbers, tool names, and constraints for best results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• ALL TEAMS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with Copilot: Every Engineer's Story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97280" cy="438912"/>
          </a:xfrm>
          <a:prstGeom prst="rect">
            <a:avLst>
              <a:gd name="adj" fmla="val 8333"/>
            </a:avLst>
          </a:prstGeom>
          <a:solidFill>
            <a:srgbClr val="1565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4358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117043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45920" y="1170432"/>
            <a:ext cx="7040880" cy="438912"/>
          </a:xfrm>
          <a:prstGeom prst="rect">
            <a:avLst>
              <a:gd name="adj" fmla="val 8333"/>
            </a:avLst>
          </a:prstGeom>
          <a:solidFill>
            <a:srgbClr val="F8F9FA"/>
          </a:solidFill>
          <a:ln/>
        </p:spPr>
      </p:sp>
      <p:sp>
        <p:nvSpPr>
          <p:cNvPr id="9" name="Text 6"/>
          <p:cNvSpPr/>
          <p:nvPr/>
        </p:nvSpPr>
        <p:spPr>
          <a:xfrm>
            <a:off x="1783080" y="11704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Teams: "Summarize crash sim review" → Word: "Draft correlation report" → Excel: "Analyze energy balance trends"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1097280" cy="438912"/>
          </a:xfrm>
          <a:prstGeom prst="rect">
            <a:avLst>
              <a:gd name="adj" fmla="val 8333"/>
            </a:avLst>
          </a:prstGeom>
          <a:solidFill>
            <a:srgbClr val="AD145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647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" y="169164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783080" y="169164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Outlook: "Draft ECR notification" → Word: "Generate DFMEA entries for new bracket" → PPT: "Create DR gate presentation"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" y="2212848"/>
            <a:ext cx="1097280" cy="438912"/>
          </a:xfrm>
          <a:prstGeom prst="rect">
            <a:avLst>
              <a:gd name="adj" fmla="val 8333"/>
            </a:avLst>
          </a:prstGeom>
          <a:solidFill>
            <a:srgbClr val="F57F1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5528" y="221284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1645920" y="2212848"/>
            <a:ext cx="7040880" cy="438912"/>
          </a:xfrm>
          <a:prstGeom prst="rect">
            <a:avLst>
              <a:gd name="adj" fmla="val 8333"/>
            </a:avLst>
          </a:prstGeom>
          <a:solidFill>
            <a:srgbClr val="F8F9FA"/>
          </a:solidFill>
          <a:ln/>
        </p:spPr>
      </p:sp>
      <p:sp>
        <p:nvSpPr>
          <p:cNvPr id="18" name="Text 13"/>
          <p:cNvSpPr/>
          <p:nvPr/>
        </p:nvSpPr>
        <p:spPr>
          <a:xfrm>
            <a:off x="1783080" y="221284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"Summarize R155 amendments" → Word: "Draft compliance gap analysis" → Outlook: "Email technical service update"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2734056"/>
            <a:ext cx="1097280" cy="438912"/>
          </a:xfrm>
          <a:prstGeom prst="rect">
            <a:avLst>
              <a:gd name="adj" fmla="val 8333"/>
            </a:avLst>
          </a:prstGeom>
          <a:solidFill>
            <a:srgbClr val="6A1B9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95528" y="273405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783080" y="273405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"Generate 20 cut-in scenarios for ACC" → Excel: "Calculate false positive rate" → Word: "Draft SOTIF analysis"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57200" y="3255264"/>
            <a:ext cx="1097280" cy="438912"/>
          </a:xfrm>
          <a:prstGeom prst="rect">
            <a:avLst>
              <a:gd name="adj" fmla="val 8333"/>
            </a:avLst>
          </a:prstGeom>
          <a:solidFill>
            <a:srgbClr val="2E7D3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28416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95528" y="325526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Dev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1645920" y="3255264"/>
            <a:ext cx="7040880" cy="438912"/>
          </a:xfrm>
          <a:prstGeom prst="rect">
            <a:avLst>
              <a:gd name="adj" fmla="val 8333"/>
            </a:avLst>
          </a:prstGeom>
          <a:solidFill>
            <a:srgbClr val="F8F9FA"/>
          </a:solidFill>
          <a:ln/>
        </p:spPr>
      </p:sp>
      <p:sp>
        <p:nvSpPr>
          <p:cNvPr id="27" name="Text 20"/>
          <p:cNvSpPr/>
          <p:nvPr/>
        </p:nvSpPr>
        <p:spPr>
          <a:xfrm>
            <a:off x="1783080" y="3255264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Code: "Auto-complete CAPL script" → Word: "Draft ASPICE SWE.3 evidence" → Teams: "Summarize code review meeting"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57200" y="3776472"/>
            <a:ext cx="1097280" cy="438912"/>
          </a:xfrm>
          <a:prstGeom prst="rect">
            <a:avLst>
              <a:gd name="adj" fmla="val 8333"/>
            </a:avLst>
          </a:prstGeom>
          <a:solidFill>
            <a:srgbClr val="00695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849624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95528" y="37764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1783080" y="377647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"Write PowerShell to audit DOORS" → Word: "Draft tool migration guide" → Teams: "Summarize outage post-mortem"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saves 5–10 hours/week on documentation, communication, and repetitive tasks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 • IP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Upload — Team-Specific Guide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11480"/>
            <a:ext cx="365760" cy="36576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108960"/>
        </p:xfrm>
        <a:graphic>
          <a:graphicData uri="http://schemas.openxmlformats.org/drawingml/2006/table">
            <a:tbl>
              <a:tblPr/>
              <a:tblGrid>
                <a:gridCol w="731520"/>
                <a:gridCol w="3749040"/>
                <a:gridCol w="3749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Upload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to Describe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 models, mesh files, material test data, crash results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solver errors, meshing strategies, material model keywords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files, drawings, BOM data, tolerance specs for parts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GD&amp;T concepts, generic DFMEA patterns, ECR templates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approval docs, test results, VIN data, CoC certs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regulation text, generic compliance matrices, templates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data, driving logs, algorithm code, model weights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ADAS concepts, OpenSCENARIO patterns, KPI definitions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 Dev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code, ARXML, CAN DB (.dbc), calibration (.a2l/.hex)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messages, design patterns, AUTOSAR concepts, MISRA rules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credentials, license keys, network configs, user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API patterns, scripting help, tool workflow concepts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PATTERN, not the proprietary implementation. AI knows the technology — it doesn't need your specific data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• COMPLETE SESSION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Remember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560320" cy="1097280"/>
          </a:xfrm>
          <a:prstGeom prst="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2560320" cy="4572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801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252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Science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160020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tokens, not truth. Hallucinations are built-in. Math is text, not calculation. Context fades in the middle. Always verify.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2560320" cy="1097280"/>
          </a:xfrm>
          <a:prstGeom prst="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0" y="1143000"/>
            <a:ext cx="2560320" cy="457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2801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1252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Power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10128" y="160020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= GPT-4 + YOUR data. Meetings, emails, docs — all AI-assisted. The "/" command is your secret weapon for context.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43600" y="1143000"/>
            <a:ext cx="2560320" cy="1097280"/>
          </a:xfrm>
          <a:prstGeom prst="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5943600" y="1143000"/>
            <a:ext cx="2560320" cy="45720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28016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1252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053328" y="160020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framework: Context, Role, Intent, Scope, Preference. 5 min on prompting saves 30 min on iterations. Be specific, not vague.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2423160"/>
            <a:ext cx="2560320" cy="1097280"/>
          </a:xfrm>
          <a:prstGeom prst="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457200" y="2423160"/>
            <a:ext cx="2560320" cy="45720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5603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Benefits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6928" y="288036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CAE, Design, Homologation, ADAS, SW Dev, Tools — all teams save 5-10 hrs/week on documentation, communication, and repetitive tasks.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00400" y="2423160"/>
            <a:ext cx="2560320" cy="1097280"/>
          </a:xfrm>
          <a:prstGeom prst="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3200400" y="2423160"/>
            <a:ext cx="2560320" cy="45720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256032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75888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310128" y="288036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patterns, never upload IP. AI helps you WRITE faster — YOU are responsible for CORRECTNESS. The assessor asks YOU, not AI.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5943600" y="2423160"/>
            <a:ext cx="2560320" cy="1097280"/>
          </a:xfrm>
          <a:prstGeom prst="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Shape 24"/>
          <p:cNvSpPr/>
          <p:nvPr/>
        </p:nvSpPr>
        <p:spPr>
          <a:xfrm>
            <a:off x="5943600" y="2423160"/>
            <a:ext cx="2560320" cy="45720"/>
          </a:xfrm>
          <a:prstGeom prst="rect">
            <a:avLst/>
          </a:prstGeom>
          <a:solidFill>
            <a:srgbClr val="FD79A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2560320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19088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053328" y="288036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ONE technique this week. Create ONE reusable prompt. Track time saved. Share success. AI is a co-pilot — you're still the pilot.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731520" y="3611880"/>
            <a:ext cx="7680960" cy="685800"/>
          </a:xfrm>
          <a:prstGeom prst="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Text 28"/>
          <p:cNvSpPr/>
          <p:nvPr/>
        </p:nvSpPr>
        <p:spPr>
          <a:xfrm>
            <a:off x="914400" y="3611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won't replace automotive engineers. But engineers who use AI will replace those who don't."
</a:t>
            </a:r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small. Stay curious. Share success. Protect Nissan IP always.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8" name="Text 30"/>
          <p:cNvSpPr/>
          <p:nvPr/>
        </p:nvSpPr>
        <p:spPr>
          <a:xfrm>
            <a:off x="457200" y="44988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</a:t>
            </a:r>
            <a:endParaRPr lang="en-US" sz="2400" dirty="0"/>
          </a:p>
        </p:txBody>
      </p:sp>
      <p:sp>
        <p:nvSpPr>
          <p:cNvPr id="39" name="Text 31"/>
          <p:cNvSpPr/>
          <p:nvPr/>
        </p:nvSpPr>
        <p:spPr>
          <a:xfrm>
            <a:off x="1371600" y="44988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2651760" y="44988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400" dirty="0"/>
          </a:p>
        </p:txBody>
      </p:sp>
      <p:sp>
        <p:nvSpPr>
          <p:cNvPr id="41" name="Text 33"/>
          <p:cNvSpPr/>
          <p:nvPr/>
        </p:nvSpPr>
        <p:spPr>
          <a:xfrm>
            <a:off x="3566160" y="44988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first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4846320" y="44988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400" dirty="0"/>
          </a:p>
        </p:txBody>
      </p:sp>
      <p:sp>
        <p:nvSpPr>
          <p:cNvPr id="43" name="Text 35"/>
          <p:cNvSpPr/>
          <p:nvPr/>
        </p:nvSpPr>
        <p:spPr>
          <a:xfrm>
            <a:off x="5760720" y="44988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7040880" y="44988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45" name="Text 37"/>
          <p:cNvSpPr/>
          <p:nvPr/>
        </p:nvSpPr>
        <p:spPr>
          <a:xfrm>
            <a:off x="7955280" y="44988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for All Teams - Enhanced with Visuals + Takeaway</dc:title>
  <dc:subject>PptxGenJS Presentation</dc:subject>
  <dc:creator>Shashwat Patel</dc:creator>
  <cp:lastModifiedBy>Shashwat Patel</cp:lastModifiedBy>
  <cp:revision>1</cp:revision>
  <dcterms:created xsi:type="dcterms:W3CDTF">2026-02-08T03:07:53Z</dcterms:created>
  <dcterms:modified xsi:type="dcterms:W3CDTF">2026-02-08T03:07:53Z</dcterms:modified>
</cp:coreProperties>
</file>